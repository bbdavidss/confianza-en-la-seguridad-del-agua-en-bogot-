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2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0407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08C82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356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65760"/>
            <a:ext cx="2011680" cy="2011680"/>
          </a:xfrm>
          <a:prstGeom prst="ellipse">
            <a:avLst/>
          </a:prstGeom>
          <a:solidFill>
            <a:srgbClr val="008C82">
              <a:alpha val="7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594360"/>
            <a:ext cx="1554480" cy="1554480"/>
          </a:xfrm>
          <a:prstGeom prst="ellipse">
            <a:avLst/>
          </a:prstGeom>
          <a:solidFill>
            <a:srgbClr val="008C82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7315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💧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0" y="36576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CONFIANZA EN LA SEGURIDAD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DEL AGUA EN BOGOTÁ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0" y="19202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 Análisis Probabilístico y Estadístico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Basado en el Paper Scopus: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274320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59E0B"/>
                </a:solidFill>
              </a:rPr>
              <a:t>"Water injustice in Colombia: Perceptions and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59E0B"/>
                </a:solidFill>
              </a:rPr>
              <a:t>realities of water quality examined through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59E0B"/>
                </a:solidFill>
              </a:rPr>
              <a:t>advanced machine learning"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3520440"/>
            <a:ext cx="5943600" cy="6858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3547872"/>
            <a:ext cx="5852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Estudiante: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Brayan David Santos Alvarez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3822192"/>
            <a:ext cx="5852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Código: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20251020157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" y="443484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📊 Estadística  •  🤖 Machine Learning  •  🌊 Datos Reales EAAB 2022-2024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52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ESTRUCTURA DE LA PRESENTACIÓN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548640" cy="804672"/>
          </a:xfrm>
          <a:prstGeom prst="rect">
            <a:avLst/>
          </a:prstGeom>
          <a:solidFill>
            <a:srgbClr val="00528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04241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Contexto y Problemática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40817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Inequidad hídrica en Colombia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65960"/>
            <a:ext cx="548640" cy="804672"/>
          </a:xfrm>
          <a:prstGeom prst="rect">
            <a:avLst/>
          </a:prstGeom>
          <a:solidFill>
            <a:srgbClr val="005288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96596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00253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Marco Normativo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36829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Res. 2115/2007 e IRCA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26080"/>
            <a:ext cx="548640" cy="804672"/>
          </a:xfrm>
          <a:prstGeom prst="rect">
            <a:avLst/>
          </a:prstGeom>
          <a:solidFill>
            <a:srgbClr val="005288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92608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296265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Metodología Manual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32841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Procedimientos estadísticos paso a paso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86200"/>
            <a:ext cx="548640" cy="804672"/>
          </a:xfrm>
          <a:prstGeom prst="rect">
            <a:avLst/>
          </a:prstGeom>
          <a:solidFill>
            <a:srgbClr val="005288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88620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392277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Metodología Digital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428853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Python: código y pantallazos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05840"/>
            <a:ext cx="548640" cy="804672"/>
          </a:xfrm>
          <a:prstGeom prst="rect">
            <a:avLst/>
          </a:prstGeom>
          <a:solidFill>
            <a:srgbClr val="005288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00584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104241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Resultados Estadísticos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9240" y="140817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Descriptiva, normalidad, IC, ANOVA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96596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965960"/>
            <a:ext cx="548640" cy="804672"/>
          </a:xfrm>
          <a:prstGeom prst="rect">
            <a:avLst/>
          </a:prstGeom>
          <a:solidFill>
            <a:srgbClr val="005288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196596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200253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Correlación y Regresión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236829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Estrato vs. Confianza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92608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926080"/>
            <a:ext cx="548640" cy="804672"/>
          </a:xfrm>
          <a:prstGeom prst="rect">
            <a:avLst/>
          </a:prstGeom>
          <a:solidFill>
            <a:srgbClr val="005288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292608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49240" y="296265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Machine Learning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49240" y="332841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Clasificador Naive Bayes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88620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886200"/>
            <a:ext cx="548640" cy="804672"/>
          </a:xfrm>
          <a:prstGeom prst="rect">
            <a:avLst/>
          </a:prstGeom>
          <a:solidFill>
            <a:srgbClr val="005288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388620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49240" y="392277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Conclusiones y Recomendaciones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49240" y="428853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Política pública diferenciada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52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 · CONTEXTO Y PROBLEMÁTICA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1371600"/>
          </a:xfrm>
          <a:prstGeom prst="rect">
            <a:avLst/>
          </a:prstGeom>
          <a:solidFill>
            <a:srgbClr val="005288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99%+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Cobertura EAAB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Bogotá urbana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651760" cy="1371600"/>
          </a:xfrm>
          <a:prstGeom prst="rect">
            <a:avLst/>
          </a:prstGeom>
          <a:solidFill>
            <a:srgbClr val="008C8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9144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8M+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00400" y="16002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Personas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atendidas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914400"/>
            <a:ext cx="2651760" cy="137160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9144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≠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035040" y="16002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Calidad real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vs. percepción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2468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88"/>
                </a:solidFill>
              </a:rPr>
              <a:t>¿Qué es la Injusticia Hídrica?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228600" cy="228600"/>
          </a:xfrm>
          <a:prstGeom prst="ellipse">
            <a:avLst/>
          </a:prstGeom>
          <a:solidFill>
            <a:srgbClr val="008C8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9077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El acceso a agua potable de calidad es un derecho humano (ONU).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447288"/>
            <a:ext cx="228600" cy="228600"/>
          </a:xfrm>
          <a:prstGeom prst="ellipse">
            <a:avLst/>
          </a:prstGeom>
          <a:solidFill>
            <a:srgbClr val="008C82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La PERCEPCIÓN de la calidad no siempre coincide con las mediciones objetivas.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922776"/>
            <a:ext cx="228600" cy="228600"/>
          </a:xfrm>
          <a:prstGeom prst="ellipse">
            <a:avLst/>
          </a:prstGeom>
          <a:solidFill>
            <a:srgbClr val="008C8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8587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Estratos bajos desconfían más → gastan más en agua embotellada (carga económica).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398264"/>
            <a:ext cx="228600" cy="228600"/>
          </a:xfrm>
          <a:prstGeom prst="ellipse">
            <a:avLst/>
          </a:prstGeom>
          <a:solidFill>
            <a:srgbClr val="008C82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3342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Paper Scopus (2024): combina mediciones fisicoquímicas + encuestas + Machine Learning.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8C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 · MARCO NORMATIVO — IRCA (Res. 2115/2007)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600200" cy="2560320"/>
          </a:xfrm>
          <a:prstGeom prst="rect">
            <a:avLst/>
          </a:prstGeom>
          <a:solidFill>
            <a:srgbClr val="22C55E">
              <a:alpha val="85000"/>
            </a:srgbClr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600200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0–5%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Sin riesgo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3774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Apta consumo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93392" y="1005840"/>
            <a:ext cx="1600200" cy="2560320"/>
          </a:xfrm>
          <a:prstGeom prst="rect">
            <a:avLst/>
          </a:prstGeom>
          <a:solidFill>
            <a:srgbClr val="84CC16">
              <a:alpha val="85000"/>
            </a:srgbClr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93392" y="1005840"/>
            <a:ext cx="1600200" cy="457200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11" name="Text 9"/>
          <p:cNvSpPr/>
          <p:nvPr/>
        </p:nvSpPr>
        <p:spPr>
          <a:xfrm>
            <a:off x="1993392" y="1005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5–14%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93392" y="15087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Riesgo Bajo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93392" y="23774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Vigilancia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12464" y="1005840"/>
            <a:ext cx="1600200" cy="2560320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12464" y="1005840"/>
            <a:ext cx="16002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712464" y="1005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14–35%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12464" y="15087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Riesgo Medio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12464" y="23774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Correctiva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58184" y="3383280"/>
            <a:ext cx="150876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3529584" y="34015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← Bogotá 2024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31536" y="1005840"/>
            <a:ext cx="1600200" cy="2560320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31536" y="1005840"/>
            <a:ext cx="16002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5431536" y="1005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35–80%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31536" y="15087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Riesgo Alto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31536" y="23774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Suspender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50608" y="1005840"/>
            <a:ext cx="1600200" cy="2560320"/>
          </a:xfrm>
          <a:prstGeom prst="rect">
            <a:avLst/>
          </a:prstGeom>
          <a:solidFill>
            <a:srgbClr val="991B1B">
              <a:alpha val="85000"/>
            </a:srgbClr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50608" y="1005840"/>
            <a:ext cx="1600200" cy="45720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28" name="Text 26"/>
          <p:cNvSpPr/>
          <p:nvPr/>
        </p:nvSpPr>
        <p:spPr>
          <a:xfrm>
            <a:off x="7150608" y="10058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80–100%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50608" y="150876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Inviable Sanitario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50608" y="23774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Prohibido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3749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288"/>
                </a:solidFill>
              </a:rPr>
              <a:t>Parámetros Monitoreados vs. Norma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114800"/>
          <a:ext cx="8595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73736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Parámetro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Media EAAB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Límite máx.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Cumple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8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Turbidez (NTU)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7.12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6.5–9.0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Cloro residual (mg/L)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Color aparente (UPC)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5.20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03 · METODOLOGÍA MANUAL — Paso a Paso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1005840" cy="1234440"/>
          </a:xfrm>
          <a:prstGeom prst="rect">
            <a:avLst/>
          </a:prstGeom>
          <a:solidFill>
            <a:srgbClr val="005288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914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PASO 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640080" cy="640080"/>
          </a:xfrm>
          <a:prstGeom prst="ellipse">
            <a:avLst/>
          </a:prstGeom>
          <a:solidFill>
            <a:srgbClr val="008C8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960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88"/>
                </a:solidFill>
              </a:rPr>
              <a:t>Recolección de datos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13258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Obtener reportes EAAB (portal web) y encuestas de percepción estratificadas.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Registrar en tabla: Turbidez, pH, Cloro, Color, Conductividad, Estrato.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" y="2267712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2267712"/>
            <a:ext cx="1005840" cy="1234440"/>
          </a:xfrm>
          <a:prstGeom prst="rect">
            <a:avLst/>
          </a:prstGeom>
          <a:solidFill>
            <a:srgbClr val="005288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226771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PASO 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770632"/>
            <a:ext cx="640080" cy="640080"/>
          </a:xfrm>
          <a:prstGeom prst="ellipse">
            <a:avLst/>
          </a:prstGeom>
          <a:solidFill>
            <a:srgbClr val="008C82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770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23134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88"/>
                </a:solidFill>
              </a:rPr>
              <a:t>Estadística descriptiva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267919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Calcular: Media = Σxᵢ/n ; Varianza = Σ(xᵢ-x̄)²/(n-1) ; CV = (s/x̄)×100%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234440" y="327355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8C82"/>
                </a:solidFill>
              </a:rPr>
              <a:t>x̄ = Σxᵢ/n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" y="3621024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3621024"/>
            <a:ext cx="1005840" cy="1234440"/>
          </a:xfrm>
          <a:prstGeom prst="rect">
            <a:avLst/>
          </a:prstGeom>
          <a:solidFill>
            <a:srgbClr val="005288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" y="362102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PASO 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4123944"/>
            <a:ext cx="640080" cy="640080"/>
          </a:xfrm>
          <a:prstGeom prst="ellipse">
            <a:avLst/>
          </a:prstGeom>
          <a:solidFill>
            <a:srgbClr val="008C82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1239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36667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88"/>
                </a:solidFill>
              </a:rPr>
              <a:t>Prueba de normalidad (Shapiro-Wilk)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4032504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Ordenar datos, calcular estadístico W. Si p &gt; 0.05 → distribución normal → usar métodos paramétricos.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234440" y="4626864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8C82"/>
                </a:solidFill>
              </a:rPr>
              <a:t>H₀: datos normales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63440" y="914400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914400"/>
            <a:ext cx="1005840" cy="1234440"/>
          </a:xfrm>
          <a:prstGeom prst="rect">
            <a:avLst/>
          </a:prstGeom>
          <a:solidFill>
            <a:srgbClr val="005288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914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PASO 4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46320" y="1417320"/>
            <a:ext cx="640080" cy="640080"/>
          </a:xfrm>
          <a:prstGeom prst="ellipse">
            <a:avLst/>
          </a:prstGeom>
          <a:solidFill>
            <a:srgbClr val="008C82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15000" y="9601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88"/>
                </a:solidFill>
              </a:rPr>
              <a:t>Intervalo de confianza 95%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15000" y="13258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IC₉₅% = x̄ ± t(α/2, n-1) · (s/√n) ; buscar t en tabla t-Student con gl = n-1.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715000" y="1920240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8C82"/>
                </a:solidFill>
              </a:rPr>
              <a:t>t₀.₀₂₅, ₁₉ = 2.093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2267712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267712"/>
            <a:ext cx="1005840" cy="1234440"/>
          </a:xfrm>
          <a:prstGeom prst="rect">
            <a:avLst/>
          </a:prstGeom>
          <a:solidFill>
            <a:srgbClr val="005288"/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226771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PASO 5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46320" y="2770632"/>
            <a:ext cx="640080" cy="640080"/>
          </a:xfrm>
          <a:prstGeom prst="ellipse">
            <a:avLst/>
          </a:prstGeom>
          <a:solidFill>
            <a:srgbClr val="008C82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2770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715000" y="23134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88"/>
                </a:solidFill>
              </a:rPr>
              <a:t>Correlación de Pearson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715000" y="267919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r = Σ(xᵢ-x̄)(yᵢ-ȳ) / √[Σ(xᵢ-x̄)² · Σ(yᵢ-ȳ)²] ; si |r| &gt; 0.7 → correlación fuerte.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715000" y="327355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8C82"/>
                </a:solidFill>
              </a:rPr>
              <a:t>r(Estrato, Conf) = 0.891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663440" y="3621024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3621024"/>
            <a:ext cx="1005840" cy="1234440"/>
          </a:xfrm>
          <a:prstGeom prst="rect">
            <a:avLst/>
          </a:prstGeom>
          <a:solidFill>
            <a:srgbClr val="005288"/>
          </a:solidFill>
          <a:ln/>
        </p:spPr>
      </p:sp>
      <p:sp>
        <p:nvSpPr>
          <p:cNvPr id="45" name="Text 43"/>
          <p:cNvSpPr/>
          <p:nvPr/>
        </p:nvSpPr>
        <p:spPr>
          <a:xfrm>
            <a:off x="4663440" y="362102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PASO 6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46320" y="4123944"/>
            <a:ext cx="640080" cy="640080"/>
          </a:xfrm>
          <a:prstGeom prst="ellipse">
            <a:avLst/>
          </a:prstGeom>
          <a:solidFill>
            <a:srgbClr val="008C82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41239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715000" y="36667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88"/>
                </a:solidFill>
              </a:rPr>
              <a:t>ANOVA de un factor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715000" y="4032504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Comparar medias IRCA entre estratos. F = MSentre/MSdentro. Si p &lt; 0.05 → diferencia sig.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715000" y="4626864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8C82"/>
                </a:solidFill>
              </a:rPr>
              <a:t>F = 0.354, p = 0.879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</a:rPr>
              <a:t>04 · METODOLOGÍA DIGITAL — Proceso en Python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114800" cy="41605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4114800" cy="29260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777240"/>
            <a:ext cx="4078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● ● ●  agua_bogota_analysis.py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1115568"/>
            <a:ext cx="4023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28600" y="1257300"/>
            <a:ext cx="4023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scipy.stats as stats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28600" y="1399032"/>
            <a:ext cx="4023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sklearn.naive_bayes import GaussianNB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28600" y="1540764"/>
            <a:ext cx="4023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28600" y="1682496"/>
            <a:ext cx="4023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Prueba Shapiro-Wilk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28600" y="1824228"/>
            <a:ext cx="4023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stat, p = stats.shapiro(turbidez)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28600" y="1965960"/>
            <a:ext cx="4023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28600" y="2107692"/>
            <a:ext cx="4023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IC 95%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28600" y="2249424"/>
            <a:ext cx="4023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 = stats.t.interval(0.95, n-1,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28600" y="2391156"/>
            <a:ext cx="4023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loc=mu, scale=stats.sem(data))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8600" y="2532888"/>
            <a:ext cx="4023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28600" y="2674620"/>
            <a:ext cx="4023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Correlación Pearson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28600" y="2816352"/>
            <a:ext cx="4023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r, p = stats.pearsonr(estrato, confianza)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28600" y="2958084"/>
            <a:ext cx="4023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28600" y="3099816"/>
            <a:ext cx="4023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Regresión lineal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28600" y="3241548"/>
            <a:ext cx="4023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slope, inter, r2, pv, se = \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28600" y="3383280"/>
            <a:ext cx="4023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stats.linregress(estrato, confianza)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28600" y="3525012"/>
            <a:ext cx="4023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28600" y="3666744"/>
            <a:ext cx="4023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Naive Bayes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28600" y="3808476"/>
            <a:ext cx="4023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 = GaussianNB()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28600" y="3950208"/>
            <a:ext cx="4023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nb.fit(X_train, y_train)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28600" y="4091940"/>
            <a:ext cx="4023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 = nb.score(X_test, y_test)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28600" y="4233672"/>
            <a:ext cx="40233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print(f'Exactitud: {acc:.2%}')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480560" y="777240"/>
            <a:ext cx="4480560" cy="4160520"/>
          </a:xfrm>
          <a:prstGeom prst="rect">
            <a:avLst/>
          </a:prstGeom>
          <a:solidFill>
            <a:srgbClr val="0C0C0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80560" y="777240"/>
            <a:ext cx="4480560" cy="292608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2" name="Text 30"/>
          <p:cNvSpPr/>
          <p:nvPr/>
        </p:nvSpPr>
        <p:spPr>
          <a:xfrm>
            <a:off x="4498848" y="777240"/>
            <a:ext cx="4443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● ● ●  Terminal — Salida del Script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26280" y="1115568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agua_bogota_analysis.py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526280" y="1251814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526280" y="1388059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ANÁLISIS AGUA BOGOTÁ ===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26280" y="1524305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26280" y="1660550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SHAPIRO-WILK NORMALIDAD: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526280" y="1796796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Turbidez: W=0.994, p=0.996 → Normal ✓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26280" y="1933042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pH:       W=0.989, p=0.910 → Normal ✓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526280" y="2069287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IRCA:     W=0.973, p=0.291 → Normal ✓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26280" y="2205533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526280" y="2341778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 95% IRCA: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526280" y="2478024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E1: Media=34.01 [32.76, 35.26]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526280" y="2614270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E3: Media=33.33 [32.34, 34.32]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26280" y="2750515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526280" y="2886761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CORRELACIÓN PEARSON: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526280" y="3023006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Estrato vs Conf: r=0.891, p&lt;0.001 **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526280" y="3159252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526280" y="3295498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REGRESIÓN LINEAL: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526280" y="3431743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 = 0.6214x + 0.3067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526280" y="3567989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R² = 0.7937, p &lt; 0.001 ✓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526280" y="3704234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526280" y="3840480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NAIVE BAYES: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26280" y="3976726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Exactitud = 96.0% ✅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526280" y="4112971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526280" y="4249217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Script completado.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526280" y="4385462"/>
            <a:ext cx="43891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82880" y="491947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49E"/>
                </a:solidFill>
              </a:rPr>
              <a:t>⬆ Pantallazo del proceso digital en Python: código fuente (izquierda) y salida en terminal (derecha)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528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 · RESULTADOS ESTADÍSTICOS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92024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33.8%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IRCA promedio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Riesgo Medio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91440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23160" y="914400"/>
            <a:ext cx="1920240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✓ 4/4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23160" y="1828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Parámetros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dentro norma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914400"/>
            <a:ext cx="1920240" cy="256032"/>
          </a:xfrm>
          <a:prstGeom prst="rect">
            <a:avLst/>
          </a:prstGeom>
          <a:solidFill>
            <a:srgbClr val="008C8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W≈0.99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1828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Shapiro-Wilk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Normalidad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20840" y="91440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0840" y="914400"/>
            <a:ext cx="1920240" cy="2560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p=0.879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20840" y="1828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ANOVA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Sin dif. sig.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2423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288"/>
                </a:solidFill>
              </a:rPr>
              <a:t>Intervalos de Confianza 95% del IRCA por Estrato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88920"/>
          <a:ext cx="8595360" cy="1645920"/>
        </p:xfrm>
        <a:graphic>
          <a:graphicData uri="http://schemas.openxmlformats.org/drawingml/2006/table">
            <a:tbl>
              <a:tblPr/>
              <a:tblGrid>
                <a:gridCol w="3200400"/>
                <a:gridCol w="731520"/>
                <a:gridCol w="1645920"/>
                <a:gridCol w="1508760"/>
                <a:gridCol w="1508760"/>
              </a:tblGrid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Estrato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Media IRCA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IC inferior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IC superior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88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Estrato 1 (Bajo-bajo)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34.01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32.76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35.26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Estrato 2 (Bajo)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34.28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33.13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35.44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Estrato 3 (Medio-bajo)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33.33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32.34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34.32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Estrato 4 (Medio)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33.72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32.06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35.38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Estrato 5 (Medio-alto)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34.10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36.20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Estrato 6 (Alto)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33.94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31.48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36.41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274320" y="449884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8C82"/>
                </a:solidFill>
              </a:rPr>
              <a:t>💡 Los intervalos se solapan → calidad OBJETIVA homogénea en toda la ciudad (ANOVA p = 0.879)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8C8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 · CORRELACIÓN Y REGRESIÓN LINEAL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7548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288"/>
                </a:solidFill>
              </a:rPr>
              <a:t>Estrato Socioeconómico vs. Confianza en el Agua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5288"/>
                </a:solidFill>
              </a:rPr>
              <a:t>(Scatter plot + Regresión lineal)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13816" y="1664208"/>
            <a:ext cx="109728" cy="109728"/>
          </a:xfrm>
          <a:prstGeom prst="ellipse">
            <a:avLst/>
          </a:prstGeom>
          <a:solidFill>
            <a:srgbClr val="005288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73252" y="1714500"/>
            <a:ext cx="109728" cy="109728"/>
          </a:xfrm>
          <a:prstGeom prst="ellipse">
            <a:avLst/>
          </a:prstGeom>
          <a:solidFill>
            <a:srgbClr val="005288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3534" y="1613916"/>
            <a:ext cx="109728" cy="109728"/>
          </a:xfrm>
          <a:prstGeom prst="ellipse">
            <a:avLst/>
          </a:prstGeom>
          <a:solidFill>
            <a:srgbClr val="005288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1865376"/>
            <a:ext cx="109728" cy="109728"/>
          </a:xfrm>
          <a:prstGeom prst="ellipse">
            <a:avLst/>
          </a:prstGeom>
          <a:solidFill>
            <a:srgbClr val="005288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10996" y="1815084"/>
            <a:ext cx="109728" cy="109728"/>
          </a:xfrm>
          <a:prstGeom prst="ellipse">
            <a:avLst/>
          </a:prstGeom>
          <a:solidFill>
            <a:srgbClr val="005288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348740" y="2016252"/>
            <a:ext cx="109728" cy="109728"/>
          </a:xfrm>
          <a:prstGeom prst="ellipse">
            <a:avLst/>
          </a:prstGeom>
          <a:solidFill>
            <a:srgbClr val="005288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08176" y="1965960"/>
            <a:ext cx="109728" cy="109728"/>
          </a:xfrm>
          <a:prstGeom prst="ellipse">
            <a:avLst/>
          </a:prstGeom>
          <a:solidFill>
            <a:srgbClr val="005288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645920" y="2167128"/>
            <a:ext cx="109728" cy="109728"/>
          </a:xfrm>
          <a:prstGeom prst="ellipse">
            <a:avLst/>
          </a:prstGeom>
          <a:solidFill>
            <a:srgbClr val="005288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705356" y="2217420"/>
            <a:ext cx="109728" cy="109728"/>
          </a:xfrm>
          <a:prstGeom prst="ellipse">
            <a:avLst/>
          </a:prstGeom>
          <a:solidFill>
            <a:srgbClr val="005288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2368296"/>
            <a:ext cx="109728" cy="109728"/>
          </a:xfrm>
          <a:prstGeom prst="ellipse">
            <a:avLst/>
          </a:prstGeom>
          <a:solidFill>
            <a:srgbClr val="005288">
              <a:alpha val="8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002536" y="2318004"/>
            <a:ext cx="109728" cy="109728"/>
          </a:xfrm>
          <a:prstGeom prst="ellipse">
            <a:avLst/>
          </a:prstGeom>
          <a:solidFill>
            <a:srgbClr val="005288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240280" y="2519172"/>
            <a:ext cx="109728" cy="109728"/>
          </a:xfrm>
          <a:prstGeom prst="ellipse">
            <a:avLst/>
          </a:prstGeom>
          <a:solidFill>
            <a:srgbClr val="005288">
              <a:alpha val="8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299716" y="2468880"/>
            <a:ext cx="109728" cy="109728"/>
          </a:xfrm>
          <a:prstGeom prst="ellipse">
            <a:avLst/>
          </a:prstGeom>
          <a:solidFill>
            <a:srgbClr val="005288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37460" y="2670048"/>
            <a:ext cx="109728" cy="109728"/>
          </a:xfrm>
          <a:prstGeom prst="ellipse">
            <a:avLst/>
          </a:prstGeom>
          <a:solidFill>
            <a:srgbClr val="005288">
              <a:alpha val="8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596896" y="2619756"/>
            <a:ext cx="109728" cy="109728"/>
          </a:xfrm>
          <a:prstGeom prst="ellipse">
            <a:avLst/>
          </a:prstGeom>
          <a:solidFill>
            <a:srgbClr val="005288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023360"/>
            <a:ext cx="4389120" cy="-2011680"/>
          </a:xfrm>
          <a:prstGeom prst="line">
            <a:avLst/>
          </a:prstGeom>
          <a:noFill/>
          <a:ln w="31750">
            <a:solidFill>
              <a:srgbClr val="DC2626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28800" y="4343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Estrato 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22860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Conf.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12080" y="914400"/>
            <a:ext cx="36576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12080" y="914400"/>
            <a:ext cx="3657600" cy="411480"/>
          </a:xfrm>
          <a:prstGeom prst="rect">
            <a:avLst/>
          </a:prstGeom>
          <a:solidFill>
            <a:srgbClr val="005288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914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Resultados Cuantitativos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138988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de Pearson: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03520" y="154990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 = 0.891 ★★★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03520" y="170992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 &lt; 0.001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03520" y="186994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03520" y="202996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Regresión: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03520" y="218998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Ŷ = 0.6214·E + 0.3067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03520" y="235000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R² = 0.7937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03520" y="251002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 &lt; 0.001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03520" y="267004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03520" y="283006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03520" y="299008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Por cada ↑ 1 estrato,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03520" y="315010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 confianza sube 0.62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03520" y="331012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303520" y="347014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clave: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03520" y="363016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El estrato PREDICE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303520" y="379018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confianza, NO los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303520" y="395020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parámetros técnicos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</a:rPr>
              <a:t>07 · MACHINE LEARNING — Clasificador Naive Bayes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73152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326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88"/>
                </a:solidFill>
              </a:rPr>
              <a:t>Fórmula del Teorema de Bayes: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P(confía | x) = P(x | confía) · P(confía) / P(x)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828800"/>
            <a:ext cx="1554480" cy="1097280"/>
          </a:xfrm>
          <a:prstGeom prst="rect">
            <a:avLst/>
          </a:prstGeom>
          <a:solidFill>
            <a:srgbClr val="005288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1874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Datos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entrada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2331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Turbidez, pH,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Cloro, Estrato...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783080" y="237744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1828800"/>
            <a:ext cx="1554480" cy="1097280"/>
          </a:xfrm>
          <a:prstGeom prst="rect">
            <a:avLst/>
          </a:prstGeom>
          <a:solidFill>
            <a:srgbClr val="005288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65960" y="1874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División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75/25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2331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150 train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50 test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20440" y="237744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03320" y="1828800"/>
            <a:ext cx="1554480" cy="1097280"/>
          </a:xfrm>
          <a:prstGeom prst="rect">
            <a:avLst/>
          </a:prstGeom>
          <a:solidFill>
            <a:srgbClr val="005288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03320" y="1874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Entrenamiento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Naive Bayes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03320" y="2331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GaussianNB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.fit(X, y)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257800" y="237744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1828800"/>
            <a:ext cx="1554480" cy="1097280"/>
          </a:xfrm>
          <a:prstGeom prst="rect">
            <a:avLst/>
          </a:prstGeom>
          <a:solidFill>
            <a:srgbClr val="005288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40680" y="1874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Predicción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40680" y="2331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.predict(X_test)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→ Confía/No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995160" y="237744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8040" y="1828800"/>
            <a:ext cx="1554480" cy="1097280"/>
          </a:xfrm>
          <a:prstGeom prst="rect">
            <a:avLst/>
          </a:prstGeom>
          <a:solidFill>
            <a:srgbClr val="005288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78040" y="1874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Evaluación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78040" y="2331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Accuracy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F1-score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200400"/>
            <a:ext cx="1645920" cy="1371600"/>
          </a:xfrm>
          <a:prstGeom prst="ellipse">
            <a:avLst/>
          </a:prstGeom>
          <a:solidFill>
            <a:srgbClr val="22C55E">
              <a:alpha val="85000"/>
            </a:srgbClr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2004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96%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5720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Exactitud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general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14600" y="3200400"/>
            <a:ext cx="1645920" cy="1371600"/>
          </a:xfrm>
          <a:prstGeom prst="ellipse">
            <a:avLst/>
          </a:prstGeom>
          <a:solidFill>
            <a:srgbClr val="005288">
              <a:alpha val="85000"/>
            </a:srgbClr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514600" y="32004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0.95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251460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Precisión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 confía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0" y="3200400"/>
            <a:ext cx="1645920" cy="1371600"/>
          </a:xfrm>
          <a:prstGeom prst="ellipse">
            <a:avLst/>
          </a:prstGeom>
          <a:solidFill>
            <a:srgbClr val="008C82">
              <a:alpha val="85000"/>
            </a:srgbClr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0" y="32004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1.00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457200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Recall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 confía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29400" y="3200400"/>
            <a:ext cx="1645920" cy="1371600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629400" y="32004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0.97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62940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F1-score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 confía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5288"/>
                </a:solidFill>
              </a:rPr>
              <a:t>🎯 Con solo conocer el estrato y los parámetros del agua, el modelo predice correctamente si un ciudadano CONFÍA en el agua el 96% de las veces.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52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08 · CONCLUSIONES Y RECOMENDACIONES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5836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El agua de Bogotá CUMPLE la Res. 2115/2007 en todos los parámetros monitoreados (EAAB 2022-2024).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09928"/>
            <a:ext cx="8595360" cy="65836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709928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70992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IRCA promedio = 33.8% (riesgo medio técnico) pero HOMOGÉNEO entre estratos (ANOVA p=0.879).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459736"/>
            <a:ext cx="8595360" cy="65836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459736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459736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Existe INEQUIDAD HÍDRICA PERCEPTUAL: r(estrato, confianza) = 0.891 (p&lt;0.001).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209544"/>
            <a:ext cx="8595360" cy="65836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3209544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209544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El estrato explica el 79.4% de la varianza en confianza (R²=0.794), no los parámetros técnicos.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959352"/>
            <a:ext cx="8595360" cy="65836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959352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395935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Naive Bayes clasifica correctamente el nivel de confianza con 96% de exactitud.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</a:rPr>
              <a:t>Recomendación: Campañas de comunicación diferenciadas por estrato + monitoreo participativo + mejora infraestructura intradomiciliaria en zonas populares.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Confianza en la Seguridad del Agua en Bogotá</dc:title>
  <dc:subject>PptxGenJS Presentation</dc:subject>
  <dc:creator>Análisis Estadístico</dc:creator>
  <cp:lastModifiedBy>Análisis Estadístico</cp:lastModifiedBy>
  <cp:revision>1</cp:revision>
  <dcterms:created xsi:type="dcterms:W3CDTF">2026-05-12T02:34:21Z</dcterms:created>
  <dcterms:modified xsi:type="dcterms:W3CDTF">2026-05-12T02:34:21Z</dcterms:modified>
</cp:coreProperties>
</file>
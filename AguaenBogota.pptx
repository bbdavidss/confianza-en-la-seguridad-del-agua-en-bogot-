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  <p:embeddedFont>
      <p:font typeface="Calibri (MS) Italics" charset="1" panose="020F05020202040A0204"/>
      <p:regular r:id="rId22"/>
    </p:embeddedFont>
    <p:embeddedFont>
      <p:font typeface="Courier New" charset="1" panose="02070309020205020404"/>
      <p:regular r:id="rId23"/>
    </p:embeddedFont>
    <p:embeddedFont>
      <p:font typeface="Courier New Bold" charset="1" panose="020706090202050204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2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400800" cy="10287000"/>
            <a:chOff x="0" y="0"/>
            <a:chExt cx="8534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34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4070">
                <a:alpha val="4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73600" y="0"/>
            <a:ext cx="914400" cy="10287000"/>
            <a:chOff x="0" y="0"/>
            <a:chExt cx="12192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8C82">
                <a:alpha val="6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8778240"/>
            <a:ext cx="18288000" cy="1508760"/>
            <a:chOff x="0" y="0"/>
            <a:chExt cx="24384000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11680"/>
                  </a:lnTo>
                  <a:lnTo>
                    <a:pt x="0" y="2011680"/>
                  </a:lnTo>
                  <a:close/>
                </a:path>
              </a:pathLst>
            </a:custGeom>
            <a:solidFill>
              <a:srgbClr val="00356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88997" y="706117"/>
            <a:ext cx="4074157" cy="4074157"/>
            <a:chOff x="0" y="0"/>
            <a:chExt cx="5432209" cy="54322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3909" y="33909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568"/>
                    <a:pt x="0" y="2682240"/>
                  </a:cubicBezTo>
                  <a:close/>
                </a:path>
              </a:pathLst>
            </a:custGeom>
            <a:solidFill>
              <a:srgbClr val="008C82">
                <a:alpha val="48627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32171" cy="5432298"/>
            </a:xfrm>
            <a:custGeom>
              <a:avLst/>
              <a:gdLst/>
              <a:ahLst/>
              <a:cxnLst/>
              <a:rect r="r" b="b" t="t" l="l"/>
              <a:pathLst>
                <a:path h="5432298" w="5432171">
                  <a:moveTo>
                    <a:pt x="0" y="2716149"/>
                  </a:moveTo>
                  <a:cubicBezTo>
                    <a:pt x="0" y="1216025"/>
                    <a:pt x="1216025" y="0"/>
                    <a:pt x="2716149" y="0"/>
                  </a:cubicBezTo>
                  <a:lnTo>
                    <a:pt x="2716149" y="33909"/>
                  </a:lnTo>
                  <a:lnTo>
                    <a:pt x="2716149" y="0"/>
                  </a:lnTo>
                  <a:cubicBezTo>
                    <a:pt x="4216146" y="0"/>
                    <a:pt x="5432171" y="1216025"/>
                    <a:pt x="5432171" y="2716149"/>
                  </a:cubicBezTo>
                  <a:lnTo>
                    <a:pt x="5398262" y="2716149"/>
                  </a:lnTo>
                  <a:lnTo>
                    <a:pt x="5432171" y="2716149"/>
                  </a:lnTo>
                  <a:cubicBezTo>
                    <a:pt x="5432171" y="4216273"/>
                    <a:pt x="4216146" y="5432298"/>
                    <a:pt x="2716022" y="5432298"/>
                  </a:cubicBezTo>
                  <a:lnTo>
                    <a:pt x="2716022" y="5398389"/>
                  </a:lnTo>
                  <a:lnTo>
                    <a:pt x="2716022" y="5432298"/>
                  </a:lnTo>
                  <a:cubicBezTo>
                    <a:pt x="1216025" y="5432171"/>
                    <a:pt x="0" y="4216146"/>
                    <a:pt x="0" y="2716149"/>
                  </a:cubicBezTo>
                  <a:lnTo>
                    <a:pt x="33909" y="2716149"/>
                  </a:lnTo>
                  <a:lnTo>
                    <a:pt x="67691" y="2716149"/>
                  </a:lnTo>
                  <a:lnTo>
                    <a:pt x="33909" y="2716149"/>
                  </a:lnTo>
                  <a:lnTo>
                    <a:pt x="0" y="2716149"/>
                  </a:lnTo>
                  <a:moveTo>
                    <a:pt x="67691" y="2716149"/>
                  </a:moveTo>
                  <a:cubicBezTo>
                    <a:pt x="67691" y="2734818"/>
                    <a:pt x="52578" y="2750058"/>
                    <a:pt x="33782" y="2750058"/>
                  </a:cubicBezTo>
                  <a:cubicBezTo>
                    <a:pt x="14986" y="2750058"/>
                    <a:pt x="0" y="2734818"/>
                    <a:pt x="0" y="2716149"/>
                  </a:cubicBezTo>
                  <a:cubicBezTo>
                    <a:pt x="0" y="2697480"/>
                    <a:pt x="15113" y="2682240"/>
                    <a:pt x="33909" y="2682240"/>
                  </a:cubicBezTo>
                  <a:cubicBezTo>
                    <a:pt x="52705" y="2682240"/>
                    <a:pt x="67818" y="2697353"/>
                    <a:pt x="67818" y="2716149"/>
                  </a:cubicBezTo>
                  <a:cubicBezTo>
                    <a:pt x="67691" y="4178808"/>
                    <a:pt x="1253490" y="5364480"/>
                    <a:pt x="2716149" y="5364480"/>
                  </a:cubicBezTo>
                  <a:cubicBezTo>
                    <a:pt x="4178808" y="5364480"/>
                    <a:pt x="5364480" y="4178808"/>
                    <a:pt x="5364480" y="2716149"/>
                  </a:cubicBezTo>
                  <a:cubicBezTo>
                    <a:pt x="5364480" y="1253490"/>
                    <a:pt x="4178808" y="67691"/>
                    <a:pt x="2716149" y="67691"/>
                  </a:cubicBezTo>
                  <a:lnTo>
                    <a:pt x="2716149" y="33909"/>
                  </a:lnTo>
                  <a:lnTo>
                    <a:pt x="2716149" y="67691"/>
                  </a:lnTo>
                  <a:cubicBezTo>
                    <a:pt x="1253490" y="67691"/>
                    <a:pt x="67691" y="1253490"/>
                    <a:pt x="67691" y="271614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1595" y="1188715"/>
            <a:ext cx="3108960" cy="3108960"/>
            <a:chOff x="0" y="0"/>
            <a:chExt cx="4145280" cy="4145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452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4145280">
                  <a:moveTo>
                    <a:pt x="0" y="2072640"/>
                  </a:moveTo>
                  <a:cubicBezTo>
                    <a:pt x="0" y="927989"/>
                    <a:pt x="927989" y="0"/>
                    <a:pt x="2072640" y="0"/>
                  </a:cubicBezTo>
                  <a:cubicBezTo>
                    <a:pt x="3217291" y="0"/>
                    <a:pt x="4145280" y="927989"/>
                    <a:pt x="4145280" y="2072640"/>
                  </a:cubicBezTo>
                  <a:cubicBezTo>
                    <a:pt x="4145280" y="3217291"/>
                    <a:pt x="3217291" y="4145280"/>
                    <a:pt x="2072640" y="4145280"/>
                  </a:cubicBezTo>
                  <a:cubicBezTo>
                    <a:pt x="927989" y="4145280"/>
                    <a:pt x="0" y="3217291"/>
                    <a:pt x="0" y="2072640"/>
                  </a:cubicBezTo>
                  <a:close/>
                </a:path>
              </a:pathLst>
            </a:custGeom>
            <a:blipFill>
              <a:blip r:embed="rId3">
                <a:alphaModFix amt="90000"/>
              </a:blip>
              <a:stretch>
                <a:fillRect l="-27704" t="0" r="-50866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86400" y="731520"/>
            <a:ext cx="11887200" cy="3291840"/>
            <a:chOff x="0" y="0"/>
            <a:chExt cx="15849600" cy="4389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8496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362" r="0" b="-2036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14300"/>
              <a:ext cx="15849600" cy="4503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CONFIANZA EN LA SEGURIDAD</a:t>
              </a:r>
            </a:p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 AGUA EN BOGOTÁ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486400" y="3840480"/>
            <a:ext cx="11887200" cy="1828800"/>
            <a:chOff x="0" y="0"/>
            <a:chExt cx="15849600" cy="2438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49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584960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Análisis Probabilístico y Estadístico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Basado en el Paper Scopus: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486400" y="4780274"/>
            <a:ext cx="11887200" cy="2377440"/>
            <a:chOff x="0" y="0"/>
            <a:chExt cx="15849600" cy="3169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8496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84960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"Water injustice in Colombia: Perceptions and</a:t>
              </a:r>
            </a:p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realities of water quality examined through</a:t>
              </a:r>
            </a:p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advanced machine learning"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486400" y="7040880"/>
            <a:ext cx="11887200" cy="1371600"/>
            <a:chOff x="0" y="0"/>
            <a:chExt cx="15849600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849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577840" y="7095744"/>
            <a:ext cx="11704320" cy="603504"/>
            <a:chOff x="0" y="0"/>
            <a:chExt cx="15605760" cy="8046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605761" cy="804672"/>
            </a:xfrm>
            <a:custGeom>
              <a:avLst/>
              <a:gdLst/>
              <a:ahLst/>
              <a:cxnLst/>
              <a:rect r="r" b="b" t="t" l="l"/>
              <a:pathLst>
                <a:path h="804672" w="15605761">
                  <a:moveTo>
                    <a:pt x="0" y="0"/>
                  </a:moveTo>
                  <a:lnTo>
                    <a:pt x="15605761" y="0"/>
                  </a:lnTo>
                  <a:lnTo>
                    <a:pt x="15605761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7891" r="0" b="-32789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560576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Estudiante: Brayan David Santos Alvarez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577840" y="7644384"/>
            <a:ext cx="11704320" cy="603504"/>
            <a:chOff x="0" y="0"/>
            <a:chExt cx="15605760" cy="8046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605761" cy="804672"/>
            </a:xfrm>
            <a:custGeom>
              <a:avLst/>
              <a:gdLst/>
              <a:ahLst/>
              <a:cxnLst/>
              <a:rect r="r" b="b" t="t" l="l"/>
              <a:pathLst>
                <a:path h="804672" w="15605761">
                  <a:moveTo>
                    <a:pt x="0" y="0"/>
                  </a:moveTo>
                  <a:lnTo>
                    <a:pt x="15605761" y="0"/>
                  </a:lnTo>
                  <a:lnTo>
                    <a:pt x="15605761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7891" r="0" b="-32789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5605760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Código: </a:t>
              </a:r>
              <a:r>
                <a:rPr lang="en-US" b="true" sz="2400">
                  <a:solidFill>
                    <a:srgbClr val="00000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20251020157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65760" y="8869680"/>
            <a:ext cx="17556480" cy="1097280"/>
            <a:chOff x="0" y="0"/>
            <a:chExt cx="23408640" cy="1463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4086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34086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 Estadística  •  🤖 Machine Learning  •  🌊 Datos Reales EAAB 2022-2024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645920"/>
            <a:chOff x="0" y="0"/>
            <a:chExt cx="2292096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510" r="0" b="-15351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920960" cy="2270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ESTRUCTURA DE LA PRESENTACIÓN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2011680"/>
            <a:ext cx="8412480" cy="1609344"/>
            <a:chOff x="0" y="0"/>
            <a:chExt cx="11216640" cy="2145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2011680"/>
            <a:ext cx="1097280" cy="1609344"/>
            <a:chOff x="0" y="0"/>
            <a:chExt cx="1463040" cy="21457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2011680"/>
            <a:ext cx="1097280" cy="1609344"/>
            <a:chOff x="0" y="0"/>
            <a:chExt cx="1463040" cy="21457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8178" t="0" r="-138178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463040" cy="2202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37360" y="2084832"/>
            <a:ext cx="7040880" cy="731520"/>
            <a:chOff x="0" y="0"/>
            <a:chExt cx="938784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Contexto y Problemática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37360" y="2816352"/>
            <a:ext cx="7040880" cy="640080"/>
            <a:chOff x="0" y="0"/>
            <a:chExt cx="938784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87840" cy="853440"/>
            </a:xfrm>
            <a:custGeom>
              <a:avLst/>
              <a:gdLst/>
              <a:ahLst/>
              <a:cxnLst/>
              <a:rect r="r" b="b" t="t" l="l"/>
              <a:pathLst>
                <a:path h="85344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3878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Inequidad hídrica en Colombia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640" y="3931920"/>
            <a:ext cx="8412480" cy="1609344"/>
            <a:chOff x="0" y="0"/>
            <a:chExt cx="11216640" cy="21457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166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48640" y="3931920"/>
            <a:ext cx="1097280" cy="1609344"/>
            <a:chOff x="0" y="0"/>
            <a:chExt cx="1463040" cy="21457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48640" y="3931920"/>
            <a:ext cx="1097280" cy="1609344"/>
            <a:chOff x="0" y="0"/>
            <a:chExt cx="1463040" cy="21457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30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8178" t="0" r="-138178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463040" cy="2202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37360" y="4005072"/>
            <a:ext cx="7040880" cy="731520"/>
            <a:chOff x="0" y="0"/>
            <a:chExt cx="938784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Marco Normativo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37360" y="4736592"/>
            <a:ext cx="7040880" cy="640080"/>
            <a:chOff x="0" y="0"/>
            <a:chExt cx="9387840" cy="853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387840" cy="853440"/>
            </a:xfrm>
            <a:custGeom>
              <a:avLst/>
              <a:gdLst/>
              <a:ahLst/>
              <a:cxnLst/>
              <a:rect r="r" b="b" t="t" l="l"/>
              <a:pathLst>
                <a:path h="85344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3878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Res. 2115/2007 e IRCA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48640" y="5852160"/>
            <a:ext cx="8412480" cy="1609344"/>
            <a:chOff x="0" y="0"/>
            <a:chExt cx="11216640" cy="21457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2166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48640" y="5852160"/>
            <a:ext cx="1097280" cy="1609344"/>
            <a:chOff x="0" y="0"/>
            <a:chExt cx="1463040" cy="21457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630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48640" y="5852160"/>
            <a:ext cx="1097280" cy="1609344"/>
            <a:chOff x="0" y="0"/>
            <a:chExt cx="1463040" cy="21457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30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8178" t="0" r="-138178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463040" cy="2202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737360" y="5925312"/>
            <a:ext cx="7040880" cy="731520"/>
            <a:chOff x="0" y="0"/>
            <a:chExt cx="9387840" cy="975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Metodología Manual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37360" y="6656832"/>
            <a:ext cx="7040880" cy="640080"/>
            <a:chOff x="0" y="0"/>
            <a:chExt cx="938784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387840" cy="853440"/>
            </a:xfrm>
            <a:custGeom>
              <a:avLst/>
              <a:gdLst/>
              <a:ahLst/>
              <a:cxnLst/>
              <a:rect r="r" b="b" t="t" l="l"/>
              <a:pathLst>
                <a:path h="85344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93878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Procedimientos estadísticos paso a paso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48640" y="7772400"/>
            <a:ext cx="8412480" cy="1609344"/>
            <a:chOff x="0" y="0"/>
            <a:chExt cx="11216640" cy="21457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2166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48640" y="7772400"/>
            <a:ext cx="1097280" cy="1609344"/>
            <a:chOff x="0" y="0"/>
            <a:chExt cx="1463040" cy="21457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630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48640" y="7772400"/>
            <a:ext cx="1097280" cy="1609344"/>
            <a:chOff x="0" y="0"/>
            <a:chExt cx="1463040" cy="21457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30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8178" t="0" r="-138178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1463040" cy="2202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37360" y="7845552"/>
            <a:ext cx="7040880" cy="731520"/>
            <a:chOff x="0" y="0"/>
            <a:chExt cx="9387840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Metodología Digital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37360" y="8577072"/>
            <a:ext cx="7040880" cy="640080"/>
            <a:chOff x="0" y="0"/>
            <a:chExt cx="938784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387840" cy="853440"/>
            </a:xfrm>
            <a:custGeom>
              <a:avLst/>
              <a:gdLst/>
              <a:ahLst/>
              <a:cxnLst/>
              <a:rect r="r" b="b" t="t" l="l"/>
              <a:pathLst>
                <a:path h="85344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3878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Python: código y pantallazos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09760" y="2011680"/>
            <a:ext cx="8412480" cy="1609344"/>
            <a:chOff x="0" y="0"/>
            <a:chExt cx="11216640" cy="21457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2166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509760" y="2011680"/>
            <a:ext cx="1097280" cy="1609344"/>
            <a:chOff x="0" y="0"/>
            <a:chExt cx="1463040" cy="21457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630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509760" y="2011680"/>
            <a:ext cx="1097280" cy="1609344"/>
            <a:chOff x="0" y="0"/>
            <a:chExt cx="1463040" cy="21457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630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8178" t="0" r="-138178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1463040" cy="2202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698480" y="2084832"/>
            <a:ext cx="7040880" cy="731520"/>
            <a:chOff x="0" y="0"/>
            <a:chExt cx="9387840" cy="9753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Resultados Estadísticos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698480" y="2816352"/>
            <a:ext cx="7040880" cy="640080"/>
            <a:chOff x="0" y="0"/>
            <a:chExt cx="9387840" cy="8534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387840" cy="853440"/>
            </a:xfrm>
            <a:custGeom>
              <a:avLst/>
              <a:gdLst/>
              <a:ahLst/>
              <a:cxnLst/>
              <a:rect r="r" b="b" t="t" l="l"/>
              <a:pathLst>
                <a:path h="85344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93878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Descriptiva, normalidad, IC, ANOVA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509760" y="3931920"/>
            <a:ext cx="8412480" cy="1609344"/>
            <a:chOff x="0" y="0"/>
            <a:chExt cx="11216640" cy="21457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2166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509760" y="3931920"/>
            <a:ext cx="1097280" cy="1609344"/>
            <a:chOff x="0" y="0"/>
            <a:chExt cx="1463040" cy="21457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630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509760" y="3931920"/>
            <a:ext cx="1097280" cy="1609344"/>
            <a:chOff x="0" y="0"/>
            <a:chExt cx="1463040" cy="21457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4630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8178" t="0" r="-138178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1463040" cy="2202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698480" y="4005072"/>
            <a:ext cx="7040880" cy="731520"/>
            <a:chOff x="0" y="0"/>
            <a:chExt cx="9387840" cy="975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Correlación y Regresión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698480" y="4736592"/>
            <a:ext cx="7040880" cy="640080"/>
            <a:chOff x="0" y="0"/>
            <a:chExt cx="9387840" cy="8534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387840" cy="853440"/>
            </a:xfrm>
            <a:custGeom>
              <a:avLst/>
              <a:gdLst/>
              <a:ahLst/>
              <a:cxnLst/>
              <a:rect r="r" b="b" t="t" l="l"/>
              <a:pathLst>
                <a:path h="85344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93878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Estrato vs. Confianza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509760" y="5852160"/>
            <a:ext cx="8412480" cy="1609344"/>
            <a:chOff x="0" y="0"/>
            <a:chExt cx="11216640" cy="214579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2166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509760" y="5852160"/>
            <a:ext cx="1097280" cy="1609344"/>
            <a:chOff x="0" y="0"/>
            <a:chExt cx="1463040" cy="214579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4630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509760" y="5852160"/>
            <a:ext cx="1097280" cy="1609344"/>
            <a:chOff x="0" y="0"/>
            <a:chExt cx="1463040" cy="21457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4630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8178" t="0" r="-138178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1463040" cy="2202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698480" y="5925312"/>
            <a:ext cx="7040880" cy="731520"/>
            <a:chOff x="0" y="0"/>
            <a:chExt cx="9387840" cy="9753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Machine Learning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698480" y="6656832"/>
            <a:ext cx="7040880" cy="640080"/>
            <a:chOff x="0" y="0"/>
            <a:chExt cx="9387840" cy="8534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387840" cy="853440"/>
            </a:xfrm>
            <a:custGeom>
              <a:avLst/>
              <a:gdLst/>
              <a:ahLst/>
              <a:cxnLst/>
              <a:rect r="r" b="b" t="t" l="l"/>
              <a:pathLst>
                <a:path h="85344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93878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Clasificador Naive Bayes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509760" y="7772400"/>
            <a:ext cx="8412480" cy="1609344"/>
            <a:chOff x="0" y="0"/>
            <a:chExt cx="11216640" cy="214579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2166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509760" y="7772400"/>
            <a:ext cx="1097280" cy="1609344"/>
            <a:chOff x="0" y="0"/>
            <a:chExt cx="1463040" cy="214579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4630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509760" y="7772400"/>
            <a:ext cx="1097280" cy="1609344"/>
            <a:chOff x="0" y="0"/>
            <a:chExt cx="1463040" cy="214579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4630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8178" t="0" r="-138178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57150"/>
              <a:ext cx="1463040" cy="2202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0698480" y="7845552"/>
            <a:ext cx="7040880" cy="731520"/>
            <a:chOff x="0" y="0"/>
            <a:chExt cx="9387840" cy="97536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Conclusiones y Recomendaciones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698480" y="8577072"/>
            <a:ext cx="7040880" cy="640080"/>
            <a:chOff x="0" y="0"/>
            <a:chExt cx="9387840" cy="85344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387840" cy="853440"/>
            </a:xfrm>
            <a:custGeom>
              <a:avLst/>
              <a:gdLst/>
              <a:ahLst/>
              <a:cxnLst/>
              <a:rect r="r" b="b" t="t" l="l"/>
              <a:pathLst>
                <a:path h="85344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93878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Política pública diferenciada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645920"/>
            <a:chOff x="0" y="0"/>
            <a:chExt cx="2292096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510" r="0" b="-15351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92096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CONTEXTO Y PROBLEMÁTICA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828800"/>
            <a:ext cx="5303520" cy="2743200"/>
            <a:chOff x="0" y="0"/>
            <a:chExt cx="7071360" cy="3657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713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31520" y="1828800"/>
            <a:ext cx="5303520" cy="1554480"/>
            <a:chOff x="0" y="0"/>
            <a:chExt cx="7071360" cy="2072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713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78" r="0" b="-1647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707136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99%+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31520" y="3200400"/>
            <a:ext cx="5303520" cy="1280160"/>
            <a:chOff x="0" y="0"/>
            <a:chExt cx="7071360" cy="1706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713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07136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Cobertura EAAB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Bogotá urbana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00800" y="1828800"/>
            <a:ext cx="5303520" cy="2743200"/>
            <a:chOff x="0" y="0"/>
            <a:chExt cx="7071360" cy="3657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713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008C8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0" y="1828800"/>
            <a:ext cx="5303520" cy="1554480"/>
            <a:chOff x="0" y="0"/>
            <a:chExt cx="7071360" cy="2072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713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78" r="0" b="-1647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707136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8M+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0" y="3200400"/>
            <a:ext cx="5303520" cy="1280160"/>
            <a:chOff x="0" y="0"/>
            <a:chExt cx="707136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713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07136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Personas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atendidas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70080" y="1828800"/>
            <a:ext cx="5303520" cy="2743200"/>
            <a:chOff x="0" y="0"/>
            <a:chExt cx="7071360" cy="3657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713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070080" y="1828800"/>
            <a:ext cx="5303520" cy="1554480"/>
            <a:chOff x="0" y="0"/>
            <a:chExt cx="7071360" cy="2072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713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78" r="0" b="-1647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23825"/>
              <a:ext cx="707136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≠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70080" y="3200400"/>
            <a:ext cx="5303520" cy="1280160"/>
            <a:chOff x="0" y="0"/>
            <a:chExt cx="7071360" cy="1706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713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707136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Calidad real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vs. percepción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48640" y="4937760"/>
            <a:ext cx="17190720" cy="914400"/>
            <a:chOff x="0" y="0"/>
            <a:chExt cx="22920960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9209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318" r="0" b="-31631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29209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52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¿Qué es la Injusticia Hídrica?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48640" y="5943600"/>
            <a:ext cx="457200" cy="457200"/>
            <a:chOff x="0" y="0"/>
            <a:chExt cx="609600" cy="609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008C8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88720" y="5815584"/>
            <a:ext cx="16459200" cy="822960"/>
            <a:chOff x="0" y="0"/>
            <a:chExt cx="2194560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21945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acceso a agua potable de calidad es un derecho humano (ONU).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48640" y="6894576"/>
            <a:ext cx="457200" cy="457200"/>
            <a:chOff x="0" y="0"/>
            <a:chExt cx="609600" cy="609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008C8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88720" y="6766560"/>
            <a:ext cx="16459200" cy="822960"/>
            <a:chOff x="0" y="0"/>
            <a:chExt cx="2194560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1945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PERCEPCIÓN de la calidad no siempre coincide con las mediciones objetivas.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48640" y="7845552"/>
            <a:ext cx="457200" cy="457200"/>
            <a:chOff x="0" y="0"/>
            <a:chExt cx="60960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008C82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88720" y="7717536"/>
            <a:ext cx="16459200" cy="822960"/>
            <a:chOff x="0" y="0"/>
            <a:chExt cx="2194560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21945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Estratos bajos desconfían más → gastan más en agua embotellada (carga económica).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48640" y="8796528"/>
            <a:ext cx="457200" cy="457200"/>
            <a:chOff x="0" y="0"/>
            <a:chExt cx="609600" cy="609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lose/>
                </a:path>
              </a:pathLst>
            </a:custGeom>
            <a:solidFill>
              <a:srgbClr val="008C8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88720" y="8668512"/>
            <a:ext cx="16459200" cy="822960"/>
            <a:chOff x="0" y="0"/>
            <a:chExt cx="21945600" cy="1097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21945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Paper Scopus (2024): combina mediciones fisicoquímicas + encuestas + Machine Learning.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08C8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645920"/>
            <a:chOff x="0" y="0"/>
            <a:chExt cx="2292096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510" r="0" b="-15351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29209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MARCO NORMATIVO — IRCA (Res. 2115/2007)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2011680"/>
            <a:ext cx="3200400" cy="5120640"/>
            <a:chOff x="0" y="0"/>
            <a:chExt cx="4267200" cy="6827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672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22C55E">
                <a:alpha val="72157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2011680"/>
            <a:ext cx="3200400" cy="914400"/>
            <a:chOff x="0" y="0"/>
            <a:chExt cx="426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2011680"/>
            <a:ext cx="3200400" cy="914400"/>
            <a:chOff x="0" y="0"/>
            <a:chExt cx="42672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267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0–5%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640" y="3017520"/>
            <a:ext cx="3200400" cy="1645920"/>
            <a:chOff x="0" y="0"/>
            <a:chExt cx="426720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67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2672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 riesgo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4754880"/>
            <a:ext cx="3200400" cy="1097280"/>
            <a:chOff x="0" y="0"/>
            <a:chExt cx="426720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67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2672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Apta consumo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986784" y="2011680"/>
            <a:ext cx="3200400" cy="5120640"/>
            <a:chOff x="0" y="0"/>
            <a:chExt cx="4267200" cy="6827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72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84CC16">
                <a:alpha val="72157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986784" y="2011680"/>
            <a:ext cx="3200400" cy="914400"/>
            <a:chOff x="0" y="0"/>
            <a:chExt cx="426720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84CC1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986784" y="2011680"/>
            <a:ext cx="3200400" cy="914400"/>
            <a:chOff x="0" y="0"/>
            <a:chExt cx="426720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267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5–14%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986784" y="3017520"/>
            <a:ext cx="3200400" cy="1645920"/>
            <a:chOff x="0" y="0"/>
            <a:chExt cx="4267200" cy="21945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67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42672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Riesgo Bajo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986784" y="4754880"/>
            <a:ext cx="3200400" cy="1097280"/>
            <a:chOff x="0" y="0"/>
            <a:chExt cx="4267200" cy="1463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67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2672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Vigilancia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424928" y="2011680"/>
            <a:ext cx="3200400" cy="5120640"/>
            <a:chOff x="0" y="0"/>
            <a:chExt cx="4267200" cy="6827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672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59E0B">
                <a:alpha val="72157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424928" y="2011680"/>
            <a:ext cx="3200400" cy="914400"/>
            <a:chOff x="0" y="0"/>
            <a:chExt cx="426720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424928" y="2011680"/>
            <a:ext cx="3200400" cy="914400"/>
            <a:chOff x="0" y="0"/>
            <a:chExt cx="4267200" cy="121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4267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14–35%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424928" y="3017520"/>
            <a:ext cx="3200400" cy="1645920"/>
            <a:chOff x="0" y="0"/>
            <a:chExt cx="4267200" cy="21945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67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42672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Riesgo Medio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424928" y="4754880"/>
            <a:ext cx="3200400" cy="1097280"/>
            <a:chOff x="0" y="0"/>
            <a:chExt cx="4267200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267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2672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Correctiva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516368" y="6766560"/>
            <a:ext cx="3017520" cy="548640"/>
            <a:chOff x="0" y="0"/>
            <a:chExt cx="402336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059168" y="6803136"/>
            <a:ext cx="3657600" cy="475488"/>
            <a:chOff x="0" y="0"/>
            <a:chExt cx="4876800" cy="63398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76800" cy="633984"/>
            </a:xfrm>
            <a:custGeom>
              <a:avLst/>
              <a:gdLst/>
              <a:ahLst/>
              <a:cxnLst/>
              <a:rect r="r" b="b" t="t" l="l"/>
              <a:pathLst>
                <a:path h="63398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8768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← Bogotá 2024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863072" y="2011680"/>
            <a:ext cx="3200400" cy="5120640"/>
            <a:chOff x="0" y="0"/>
            <a:chExt cx="4267200" cy="6827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2672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EF4444">
                <a:alpha val="72157"/>
              </a:srgbClr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863072" y="2011680"/>
            <a:ext cx="3200400" cy="914400"/>
            <a:chOff x="0" y="0"/>
            <a:chExt cx="4267200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863072" y="2011680"/>
            <a:ext cx="3200400" cy="914400"/>
            <a:chOff x="0" y="0"/>
            <a:chExt cx="4267200" cy="1219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4267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35–80%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863072" y="3017520"/>
            <a:ext cx="3200400" cy="1645920"/>
            <a:chOff x="0" y="0"/>
            <a:chExt cx="4267200" cy="21945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67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42672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Riesgo Alto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863072" y="4754880"/>
            <a:ext cx="3200400" cy="1097280"/>
            <a:chOff x="0" y="0"/>
            <a:chExt cx="4267200" cy="14630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267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42672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Suspender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301216" y="2011680"/>
            <a:ext cx="3200400" cy="5120640"/>
            <a:chOff x="0" y="0"/>
            <a:chExt cx="4267200" cy="6827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2672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991B1B">
                <a:alpha val="72157"/>
              </a:srgbClr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301216" y="2011680"/>
            <a:ext cx="3200400" cy="914400"/>
            <a:chOff x="0" y="0"/>
            <a:chExt cx="4267200" cy="12192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991B1B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301216" y="2011680"/>
            <a:ext cx="3200400" cy="914400"/>
            <a:chOff x="0" y="0"/>
            <a:chExt cx="4267200" cy="1219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26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4267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80–100%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301216" y="3017520"/>
            <a:ext cx="3200400" cy="1645920"/>
            <a:chOff x="0" y="0"/>
            <a:chExt cx="4267200" cy="21945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267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42672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Inviable Sanitario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301216" y="4754880"/>
            <a:ext cx="3200400" cy="1097280"/>
            <a:chOff x="0" y="0"/>
            <a:chExt cx="4267200" cy="14630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267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2672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Prohibido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48640" y="7498080"/>
            <a:ext cx="17190720" cy="731520"/>
            <a:chOff x="0" y="0"/>
            <a:chExt cx="22920960" cy="9753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920961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98" r="0" b="-40789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2292096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52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Parámetros Monitoreados vs. Norma</a:t>
              </a:r>
            </a:p>
          </p:txBody>
        </p:sp>
      </p:grpSp>
      <p:graphicFrame>
        <p:nvGraphicFramePr>
          <p:cNvPr name="Table 80" id="80"/>
          <p:cNvGraphicFramePr>
            <a:graphicFrameLocks noGrp="true"/>
          </p:cNvGraphicFramePr>
          <p:nvPr/>
        </p:nvGraphicFramePr>
        <p:xfrm>
          <a:off x="548640" y="8229600"/>
          <a:ext cx="17170400" cy="1778000"/>
        </p:xfrm>
        <a:graphic>
          <a:graphicData uri="http://schemas.openxmlformats.org/drawingml/2006/table">
            <a:tbl>
              <a:tblPr/>
              <a:tblGrid>
                <a:gridCol w="6380892"/>
                <a:gridCol w="3657033"/>
                <a:gridCol w="3657033"/>
                <a:gridCol w="3475442"/>
              </a:tblGrid>
              <a:tr h="355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Parámetro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Media EAAB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Límite máx.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Cumple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Turbidez (NTU)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0.445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2.0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7.12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6.5–9.0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Cloro residual (mg/L)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0.705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2.0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Color aparente (UPC)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5.20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15.0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645920"/>
            <a:chOff x="0" y="0"/>
            <a:chExt cx="2292096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510" r="0" b="-15351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92096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METODOLOGÍA MANUAL — Paso a Paso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5760" y="1828800"/>
            <a:ext cx="8412480" cy="2468880"/>
            <a:chOff x="0" y="0"/>
            <a:chExt cx="11216640" cy="3291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" y="1828800"/>
            <a:ext cx="2011680" cy="2468880"/>
            <a:chOff x="0" y="0"/>
            <a:chExt cx="2682240" cy="3291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822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1828800"/>
            <a:ext cx="2011680" cy="914400"/>
            <a:chOff x="0" y="0"/>
            <a:chExt cx="268224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82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68224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 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2834640"/>
            <a:ext cx="1280160" cy="1280160"/>
            <a:chOff x="0" y="0"/>
            <a:chExt cx="1706880" cy="1706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08C8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31520" y="2834640"/>
            <a:ext cx="1280160" cy="1280160"/>
            <a:chOff x="0" y="0"/>
            <a:chExt cx="1706880" cy="1706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70688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468880" y="1920240"/>
            <a:ext cx="6126480" cy="731520"/>
            <a:chOff x="0" y="0"/>
            <a:chExt cx="816864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68640" cy="975360"/>
            </a:xfrm>
            <a:custGeom>
              <a:avLst/>
              <a:gdLst/>
              <a:ahLst/>
              <a:cxnLst/>
              <a:rect r="r" b="b" t="t" l="l"/>
              <a:pathLst>
                <a:path h="97536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168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52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Recolección de datos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468880" y="2651760"/>
            <a:ext cx="6126480" cy="1371600"/>
            <a:chOff x="0" y="0"/>
            <a:chExt cx="8168640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68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33" r="0" b="-3703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1686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Obtener reportes EAAB (portal web) y encuestas de percepción estratificadas.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Registrar en tabla: Turbidez, pH, Cloro, Color, Conductividad, Estrato.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65760" y="4535424"/>
            <a:ext cx="8412480" cy="2468880"/>
            <a:chOff x="0" y="0"/>
            <a:chExt cx="11216640" cy="3291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65760" y="4535424"/>
            <a:ext cx="2011680" cy="2468880"/>
            <a:chOff x="0" y="0"/>
            <a:chExt cx="2682240" cy="3291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822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65760" y="4535424"/>
            <a:ext cx="2011680" cy="914400"/>
            <a:chOff x="0" y="0"/>
            <a:chExt cx="268224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82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268224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 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31520" y="5541264"/>
            <a:ext cx="1280160" cy="1280160"/>
            <a:chOff x="0" y="0"/>
            <a:chExt cx="1706880" cy="1706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08C8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31520" y="5541264"/>
            <a:ext cx="1280160" cy="1280160"/>
            <a:chOff x="0" y="0"/>
            <a:chExt cx="1706880" cy="17068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70688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468880" y="4626864"/>
            <a:ext cx="6126480" cy="731520"/>
            <a:chOff x="0" y="0"/>
            <a:chExt cx="816864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68640" cy="975360"/>
            </a:xfrm>
            <a:custGeom>
              <a:avLst/>
              <a:gdLst/>
              <a:ahLst/>
              <a:cxnLst/>
              <a:rect r="r" b="b" t="t" l="l"/>
              <a:pathLst>
                <a:path h="97536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168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52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Estadística descriptiva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468880" y="5358384"/>
            <a:ext cx="6126480" cy="1371600"/>
            <a:chOff x="0" y="0"/>
            <a:chExt cx="8168640" cy="1828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68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33" r="0" b="-3703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1686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Calcular: Media = Σxᵢ/n ; Varianza = Σ(xᵢ-x̄)²/(n-1) ; CV = (s/x̄)×100%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468880" y="6547104"/>
            <a:ext cx="6126480" cy="402336"/>
            <a:chOff x="0" y="0"/>
            <a:chExt cx="8168640" cy="5364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68640" cy="536448"/>
            </a:xfrm>
            <a:custGeom>
              <a:avLst/>
              <a:gdLst/>
              <a:ahLst/>
              <a:cxnLst/>
              <a:rect r="r" b="b" t="t" l="l"/>
              <a:pathLst>
                <a:path h="536448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703" r="0" b="-24670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816864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008C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x̄ = Σxᵢ/n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65760" y="7242048"/>
            <a:ext cx="8412480" cy="2468880"/>
            <a:chOff x="0" y="0"/>
            <a:chExt cx="11216640" cy="3291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365760" y="7242048"/>
            <a:ext cx="2011680" cy="2468880"/>
            <a:chOff x="0" y="0"/>
            <a:chExt cx="2682240" cy="3291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6822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365760" y="7242048"/>
            <a:ext cx="2011680" cy="914400"/>
            <a:chOff x="0" y="0"/>
            <a:chExt cx="2682240" cy="1219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82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268224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 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31520" y="8247888"/>
            <a:ext cx="1280160" cy="1280160"/>
            <a:chOff x="0" y="0"/>
            <a:chExt cx="1706880" cy="17068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08C82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31520" y="8247888"/>
            <a:ext cx="1280160" cy="1280160"/>
            <a:chOff x="0" y="0"/>
            <a:chExt cx="1706880" cy="17068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170688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468880" y="7333488"/>
            <a:ext cx="6126480" cy="731520"/>
            <a:chOff x="0" y="0"/>
            <a:chExt cx="8168640" cy="97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68640" cy="975360"/>
            </a:xfrm>
            <a:custGeom>
              <a:avLst/>
              <a:gdLst/>
              <a:ahLst/>
              <a:cxnLst/>
              <a:rect r="r" b="b" t="t" l="l"/>
              <a:pathLst>
                <a:path h="97536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8168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52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Prueba de normalidad (Shapiro-Wilk)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468880" y="8065008"/>
            <a:ext cx="6126480" cy="1371600"/>
            <a:chOff x="0" y="0"/>
            <a:chExt cx="8168640" cy="1828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68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33" r="0" b="-3703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81686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Ordenar datos, calcular estadístico W. Si p &gt; 0.05 → distribución normal → usar métodos paramétricos.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468880" y="9253728"/>
            <a:ext cx="6126480" cy="402336"/>
            <a:chOff x="0" y="0"/>
            <a:chExt cx="8168640" cy="5364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68640" cy="536448"/>
            </a:xfrm>
            <a:custGeom>
              <a:avLst/>
              <a:gdLst/>
              <a:ahLst/>
              <a:cxnLst/>
              <a:rect r="r" b="b" t="t" l="l"/>
              <a:pathLst>
                <a:path h="536448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703" r="0" b="-24670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816864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008C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H₀: datos normales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326880" y="1828800"/>
            <a:ext cx="8412480" cy="2468880"/>
            <a:chOff x="0" y="0"/>
            <a:chExt cx="11216640" cy="32918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326880" y="1828800"/>
            <a:ext cx="2011680" cy="2468880"/>
            <a:chOff x="0" y="0"/>
            <a:chExt cx="2682240" cy="32918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6822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326880" y="1828800"/>
            <a:ext cx="2011680" cy="914400"/>
            <a:chOff x="0" y="0"/>
            <a:chExt cx="2682240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682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268224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 4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692640" y="2834640"/>
            <a:ext cx="1280160" cy="1280160"/>
            <a:chOff x="0" y="0"/>
            <a:chExt cx="1706880" cy="17068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08C82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692640" y="2834640"/>
            <a:ext cx="1280160" cy="1280160"/>
            <a:chOff x="0" y="0"/>
            <a:chExt cx="1706880" cy="17068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170688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430000" y="1920240"/>
            <a:ext cx="6126480" cy="731520"/>
            <a:chOff x="0" y="0"/>
            <a:chExt cx="8168640" cy="975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168640" cy="975360"/>
            </a:xfrm>
            <a:custGeom>
              <a:avLst/>
              <a:gdLst/>
              <a:ahLst/>
              <a:cxnLst/>
              <a:rect r="r" b="b" t="t" l="l"/>
              <a:pathLst>
                <a:path h="97536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8168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52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Intervalo de confianza 95%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430000" y="2651760"/>
            <a:ext cx="6126480" cy="1371600"/>
            <a:chOff x="0" y="0"/>
            <a:chExt cx="8168640" cy="18288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168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33" r="0" b="-3703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81686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IC₉₅% = x̄ ± t(α/2, n-1) · (s/√n) ; buscar t en tabla t-Student con gl = n-1.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430000" y="3840480"/>
            <a:ext cx="6126480" cy="402336"/>
            <a:chOff x="0" y="0"/>
            <a:chExt cx="8168640" cy="53644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168640" cy="536448"/>
            </a:xfrm>
            <a:custGeom>
              <a:avLst/>
              <a:gdLst/>
              <a:ahLst/>
              <a:cxnLst/>
              <a:rect r="r" b="b" t="t" l="l"/>
              <a:pathLst>
                <a:path h="536448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703" r="0" b="-246703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816864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008C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t₀.₀₂₅, ₁₉ = 2.093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326880" y="4535424"/>
            <a:ext cx="8412480" cy="2468880"/>
            <a:chOff x="0" y="0"/>
            <a:chExt cx="11216640" cy="32918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326880" y="4535424"/>
            <a:ext cx="2011680" cy="2468880"/>
            <a:chOff x="0" y="0"/>
            <a:chExt cx="2682240" cy="32918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6822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326880" y="4535424"/>
            <a:ext cx="2011680" cy="914400"/>
            <a:chOff x="0" y="0"/>
            <a:chExt cx="2682240" cy="12192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682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268224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 5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692640" y="5541264"/>
            <a:ext cx="1280160" cy="1280160"/>
            <a:chOff x="0" y="0"/>
            <a:chExt cx="1706880" cy="17068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08C82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692640" y="5541264"/>
            <a:ext cx="1280160" cy="1280160"/>
            <a:chOff x="0" y="0"/>
            <a:chExt cx="1706880" cy="17068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57150"/>
              <a:ext cx="170688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430000" y="4626864"/>
            <a:ext cx="6126480" cy="731520"/>
            <a:chOff x="0" y="0"/>
            <a:chExt cx="8168640" cy="97536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168640" cy="975360"/>
            </a:xfrm>
            <a:custGeom>
              <a:avLst/>
              <a:gdLst/>
              <a:ahLst/>
              <a:cxnLst/>
              <a:rect r="r" b="b" t="t" l="l"/>
              <a:pathLst>
                <a:path h="97536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8168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52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Correlación de Pearson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1430000" y="5358384"/>
            <a:ext cx="6126480" cy="1371600"/>
            <a:chOff x="0" y="0"/>
            <a:chExt cx="8168640" cy="18288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168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33" r="0" b="-37033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81686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 = Σ(xᵢ-x̄)(yᵢ-ȳ) / √[Σ(xᵢ-x̄)² · Σ(yᵢ-ȳ)²] ; si |r| &gt; 0.7 → correlación fuerte.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1430000" y="6547104"/>
            <a:ext cx="6126480" cy="402336"/>
            <a:chOff x="0" y="0"/>
            <a:chExt cx="8168640" cy="53644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168640" cy="536448"/>
            </a:xfrm>
            <a:custGeom>
              <a:avLst/>
              <a:gdLst/>
              <a:ahLst/>
              <a:cxnLst/>
              <a:rect r="r" b="b" t="t" l="l"/>
              <a:pathLst>
                <a:path h="536448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703" r="0" b="-246703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816864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008C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r(Estrato, Conf) = 0.891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326880" y="7242048"/>
            <a:ext cx="8412480" cy="2468880"/>
            <a:chOff x="0" y="0"/>
            <a:chExt cx="11216640" cy="32918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1216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9326880" y="7242048"/>
            <a:ext cx="2011680" cy="2468880"/>
            <a:chOff x="0" y="0"/>
            <a:chExt cx="2682240" cy="329184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6822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326880" y="7242048"/>
            <a:ext cx="2011680" cy="914400"/>
            <a:chOff x="0" y="0"/>
            <a:chExt cx="2682240" cy="12192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6822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19" t="0" r="-8319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268224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 6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692640" y="8247888"/>
            <a:ext cx="1280160" cy="1280160"/>
            <a:chOff x="0" y="0"/>
            <a:chExt cx="1706880" cy="170688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08C82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692640" y="8247888"/>
            <a:ext cx="1280160" cy="1280160"/>
            <a:chOff x="0" y="0"/>
            <a:chExt cx="1706880" cy="170688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57150"/>
              <a:ext cx="170688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430000" y="7333488"/>
            <a:ext cx="6126480" cy="731520"/>
            <a:chOff x="0" y="0"/>
            <a:chExt cx="8168640" cy="97536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8168640" cy="975360"/>
            </a:xfrm>
            <a:custGeom>
              <a:avLst/>
              <a:gdLst/>
              <a:ahLst/>
              <a:cxnLst/>
              <a:rect r="r" b="b" t="t" l="l"/>
              <a:pathLst>
                <a:path h="97536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87" r="0" b="-113187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81686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52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ANOVA de un factor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1430000" y="8065008"/>
            <a:ext cx="6126480" cy="1371600"/>
            <a:chOff x="0" y="0"/>
            <a:chExt cx="8168640" cy="18288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8168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33" r="0" b="-37033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81686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Comparar medias IRCA entre estratos. F = MSentre/MSdentro. Si p &lt; 0.05 → diferencia sig.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430000" y="9253728"/>
            <a:ext cx="6126480" cy="402336"/>
            <a:chOff x="0" y="0"/>
            <a:chExt cx="8168640" cy="53644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8168640" cy="536448"/>
            </a:xfrm>
            <a:custGeom>
              <a:avLst/>
              <a:gdLst/>
              <a:ahLst/>
              <a:cxnLst/>
              <a:rect r="r" b="b" t="t" l="l"/>
              <a:pathLst>
                <a:path h="536448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703" r="0" b="-24670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816864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008C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 = 0.354, p = 0.879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61B2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371600"/>
            <a:chOff x="0" y="0"/>
            <a:chExt cx="2292096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212" r="0" b="-19421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292096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METODOLOGÍA DIGITAL — Proceso en Python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5760" y="1554480"/>
            <a:ext cx="8229600" cy="8321040"/>
            <a:chOff x="0" y="0"/>
            <a:chExt cx="10972800" cy="11094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11094720"/>
            </a:xfrm>
            <a:custGeom>
              <a:avLst/>
              <a:gdLst/>
              <a:ahLst/>
              <a:cxnLst/>
              <a:rect r="r" b="b" t="t" l="l"/>
              <a:pathLst>
                <a:path h="110947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094720"/>
                  </a:lnTo>
                  <a:lnTo>
                    <a:pt x="0" y="1109472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" y="1554480"/>
            <a:ext cx="8229600" cy="585216"/>
            <a:chOff x="0" y="0"/>
            <a:chExt cx="10972800" cy="780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02336" y="1554480"/>
            <a:ext cx="8156448" cy="585216"/>
            <a:chOff x="0" y="0"/>
            <a:chExt cx="10875264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75264" cy="780288"/>
            </a:xfrm>
            <a:custGeom>
              <a:avLst/>
              <a:gdLst/>
              <a:ahLst/>
              <a:cxnLst/>
              <a:rect r="r" b="b" t="t" l="l"/>
              <a:pathLst>
                <a:path h="780288" w="10875264">
                  <a:moveTo>
                    <a:pt x="0" y="0"/>
                  </a:moveTo>
                  <a:lnTo>
                    <a:pt x="10875264" y="0"/>
                  </a:lnTo>
                  <a:lnTo>
                    <a:pt x="10875264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572" r="0" b="-22157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0875264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● ● ●  agua_bogota_analysis.py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57200" y="2231136"/>
            <a:ext cx="8046720" cy="310896"/>
            <a:chOff x="0" y="0"/>
            <a:chExt cx="10728960" cy="4145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C586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import numpy as np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7200" y="2514600"/>
            <a:ext cx="8046720" cy="310896"/>
            <a:chOff x="0" y="0"/>
            <a:chExt cx="10728960" cy="4145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C586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import scipy.stats as stats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57200" y="2798064"/>
            <a:ext cx="8046720" cy="310896"/>
            <a:chOff x="0" y="0"/>
            <a:chExt cx="10728960" cy="4145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C586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from sklearn.naive_bayes import GaussianNB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57200" y="3364992"/>
            <a:ext cx="8046720" cy="310896"/>
            <a:chOff x="0" y="0"/>
            <a:chExt cx="10728960" cy="4145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Prueba Shapiro-Wilk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57200" y="3648456"/>
            <a:ext cx="8046720" cy="310896"/>
            <a:chOff x="0" y="0"/>
            <a:chExt cx="10728960" cy="4145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stat, p = stats.shapiro(turbidez)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57200" y="4215384"/>
            <a:ext cx="8046720" cy="310896"/>
            <a:chOff x="0" y="0"/>
            <a:chExt cx="10728960" cy="4145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IC 95%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57200" y="4498848"/>
            <a:ext cx="8046720" cy="310896"/>
            <a:chOff x="0" y="0"/>
            <a:chExt cx="10728960" cy="4145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ci = stats.t.interval(0.95, n-1,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57200" y="4782312"/>
            <a:ext cx="8046720" cy="310896"/>
            <a:chOff x="0" y="0"/>
            <a:chExt cx="10728960" cy="4145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loc=mu, scale=stats.sem(data))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57200" y="5349240"/>
            <a:ext cx="8046720" cy="310896"/>
            <a:chOff x="0" y="0"/>
            <a:chExt cx="10728960" cy="4145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Correlación Pearson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57200" y="5632704"/>
            <a:ext cx="8046720" cy="310896"/>
            <a:chOff x="0" y="0"/>
            <a:chExt cx="10728960" cy="4145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r, p = stats.pearsonr(estrato, confianza)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57200" y="6199632"/>
            <a:ext cx="8046720" cy="310896"/>
            <a:chOff x="0" y="0"/>
            <a:chExt cx="10728960" cy="4145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Regresión lineal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57200" y="6483096"/>
            <a:ext cx="8046720" cy="310896"/>
            <a:chOff x="0" y="0"/>
            <a:chExt cx="10728960" cy="4145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slope, inter, r2, pv, se = \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57200" y="6766560"/>
            <a:ext cx="8046720" cy="310896"/>
            <a:chOff x="0" y="0"/>
            <a:chExt cx="10728960" cy="4145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stats.linregress(estrato, confianza)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57200" y="7333488"/>
            <a:ext cx="8046720" cy="310896"/>
            <a:chOff x="0" y="0"/>
            <a:chExt cx="10728960" cy="4145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Naive Bayes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57200" y="7616952"/>
            <a:ext cx="8046720" cy="310896"/>
            <a:chOff x="0" y="0"/>
            <a:chExt cx="10728960" cy="4145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nb = GaussianNB()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57200" y="7900416"/>
            <a:ext cx="8046720" cy="310896"/>
            <a:chOff x="0" y="0"/>
            <a:chExt cx="10728960" cy="41452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nb.fit(X_train, y_train)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57200" y="8183880"/>
            <a:ext cx="8046720" cy="310896"/>
            <a:chOff x="0" y="0"/>
            <a:chExt cx="10728960" cy="4145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DCDCA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acc = nb.score(X_test, y_test)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57200" y="8467344"/>
            <a:ext cx="8046720" cy="310896"/>
            <a:chOff x="0" y="0"/>
            <a:chExt cx="10728960" cy="4145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728960" cy="414528"/>
            </a:xfrm>
            <a:custGeom>
              <a:avLst/>
              <a:gdLst/>
              <a:ahLst/>
              <a:cxnLst/>
              <a:rect r="r" b="b" t="t" l="l"/>
              <a:pathLst>
                <a:path h="4145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18" r="0" b="-45431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1072896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print(f'Exactitud: {acc:.2%}')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961120" y="1554480"/>
            <a:ext cx="8961120" cy="8321040"/>
            <a:chOff x="0" y="0"/>
            <a:chExt cx="11948160" cy="110947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948160" cy="11094720"/>
            </a:xfrm>
            <a:custGeom>
              <a:avLst/>
              <a:gdLst/>
              <a:ahLst/>
              <a:cxnLst/>
              <a:rect r="r" b="b" t="t" l="l"/>
              <a:pathLst>
                <a:path h="1109472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1094720"/>
                  </a:lnTo>
                  <a:lnTo>
                    <a:pt x="0" y="11094720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961120" y="1554480"/>
            <a:ext cx="8961120" cy="585216"/>
            <a:chOff x="0" y="0"/>
            <a:chExt cx="11948160" cy="78028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948160" cy="780288"/>
            </a:xfrm>
            <a:custGeom>
              <a:avLst/>
              <a:gdLst/>
              <a:ahLst/>
              <a:cxnLst/>
              <a:rect r="r" b="b" t="t" l="l"/>
              <a:pathLst>
                <a:path h="780288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C1C1C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997696" y="1554480"/>
            <a:ext cx="8887968" cy="585216"/>
            <a:chOff x="0" y="0"/>
            <a:chExt cx="11850624" cy="78028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850624" cy="780288"/>
            </a:xfrm>
            <a:custGeom>
              <a:avLst/>
              <a:gdLst/>
              <a:ahLst/>
              <a:cxnLst/>
              <a:rect r="r" b="b" t="t" l="l"/>
              <a:pathLst>
                <a:path h="780288" w="11850624">
                  <a:moveTo>
                    <a:pt x="0" y="0"/>
                  </a:moveTo>
                  <a:lnTo>
                    <a:pt x="11850624" y="0"/>
                  </a:lnTo>
                  <a:lnTo>
                    <a:pt x="11850624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929" r="0" b="-24592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11850624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● ● ●  Terminal — Salida del Script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052560" y="2231136"/>
            <a:ext cx="8778240" cy="310896"/>
            <a:chOff x="0" y="0"/>
            <a:chExt cx="11704320" cy="4145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22C5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python agua_bogota_analysis.py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052560" y="2776118"/>
            <a:ext cx="8778240" cy="310896"/>
            <a:chOff x="0" y="0"/>
            <a:chExt cx="11704320" cy="41452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F59E0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=== ANÁLISIS AGUA BOGOTÁ ===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052560" y="3321101"/>
            <a:ext cx="8778240" cy="310896"/>
            <a:chOff x="0" y="0"/>
            <a:chExt cx="11704320" cy="41452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SHAPIRO-WILK NORMALIDAD: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052560" y="3593592"/>
            <a:ext cx="8778240" cy="310896"/>
            <a:chOff x="0" y="0"/>
            <a:chExt cx="11704320" cy="41452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22C5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Turbidez: W=0.994, p=0.996 → Normal ✓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052560" y="3866083"/>
            <a:ext cx="8778240" cy="310896"/>
            <a:chOff x="0" y="0"/>
            <a:chExt cx="11704320" cy="41452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22C5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pH:       W=0.989, p=0.910 → Normal ✓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052560" y="4138574"/>
            <a:ext cx="8778240" cy="310896"/>
            <a:chOff x="0" y="0"/>
            <a:chExt cx="11704320" cy="41452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22C5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IRCA:     W=0.973, p=0.291 → Normal ✓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052560" y="4683557"/>
            <a:ext cx="8778240" cy="310896"/>
            <a:chOff x="0" y="0"/>
            <a:chExt cx="11704320" cy="41452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IC 95% IRCA: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052560" y="4956048"/>
            <a:ext cx="8778240" cy="310896"/>
            <a:chOff x="0" y="0"/>
            <a:chExt cx="11704320" cy="41452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E1: Media=34.01 [32.76, 35.26]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052560" y="5228539"/>
            <a:ext cx="8778240" cy="310896"/>
            <a:chOff x="0" y="0"/>
            <a:chExt cx="11704320" cy="41452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E3: Media=33.33 [32.34, 34.32]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052560" y="5773522"/>
            <a:ext cx="8778240" cy="310896"/>
            <a:chOff x="0" y="0"/>
            <a:chExt cx="11704320" cy="41452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CORRELACIÓN PEARSON: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052560" y="6046013"/>
            <a:ext cx="8778240" cy="310896"/>
            <a:chOff x="0" y="0"/>
            <a:chExt cx="11704320" cy="41452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F59E0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Estrato vs Conf: r=0.891, p&lt;0.001 **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052560" y="6590995"/>
            <a:ext cx="8778240" cy="310896"/>
            <a:chOff x="0" y="0"/>
            <a:chExt cx="11704320" cy="41452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REGRESIÓN LINEAL: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052560" y="6863486"/>
            <a:ext cx="8778240" cy="310896"/>
            <a:chOff x="0" y="0"/>
            <a:chExt cx="11704320" cy="41452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D4D4D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y = 0.6214x + 0.3067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9052560" y="7135978"/>
            <a:ext cx="8778240" cy="310896"/>
            <a:chOff x="0" y="0"/>
            <a:chExt cx="11704320" cy="41452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22C5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R² = 0.7937, p &lt; 0.001 ✓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9052560" y="7680960"/>
            <a:ext cx="8778240" cy="310896"/>
            <a:chOff x="0" y="0"/>
            <a:chExt cx="11704320" cy="41452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NAIVE BAYES: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052560" y="7953451"/>
            <a:ext cx="8778240" cy="310896"/>
            <a:chOff x="0" y="0"/>
            <a:chExt cx="11704320" cy="41452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22C5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Exactitud = 96.0% ✅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052560" y="8498434"/>
            <a:ext cx="8778240" cy="310896"/>
            <a:chOff x="0" y="0"/>
            <a:chExt cx="11704320" cy="41452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22C5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✅ Script completado.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052560" y="8770925"/>
            <a:ext cx="8778240" cy="310896"/>
            <a:chOff x="0" y="0"/>
            <a:chExt cx="11704320" cy="41452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1704320" cy="414528"/>
            </a:xfrm>
            <a:custGeom>
              <a:avLst/>
              <a:gdLst/>
              <a:ahLst/>
              <a:cxnLst/>
              <a:rect r="r" b="b" t="t" l="l"/>
              <a:pathLst>
                <a:path h="41452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14528"/>
                  </a:lnTo>
                  <a:lnTo>
                    <a:pt x="0" y="414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165" r="0" b="-500165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9525"/>
              <a:ext cx="11704320" cy="424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22C55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365760" y="9838944"/>
            <a:ext cx="17556480" cy="402336"/>
            <a:chOff x="0" y="0"/>
            <a:chExt cx="23408640" cy="53644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3408639" cy="536448"/>
            </a:xfrm>
            <a:custGeom>
              <a:avLst/>
              <a:gdLst/>
              <a:ahLst/>
              <a:cxnLst/>
              <a:rect r="r" b="b" t="t" l="l"/>
              <a:pathLst>
                <a:path h="536448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0256" r="0" b="-800256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234086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i="true">
                  <a:solidFill>
                    <a:srgbClr val="8B949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⬆ Pantallazo del proceso digital en Python: código fuente (izquierda) y salida en terminal (derecha)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645920"/>
            <a:chOff x="0" y="0"/>
            <a:chExt cx="2292096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510" r="0" b="-15351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92096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RESULTADOS ESTADÍSTICOS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1828800"/>
            <a:ext cx="3840480" cy="2743200"/>
            <a:chOff x="0" y="0"/>
            <a:chExt cx="5120640" cy="3657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20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1828800"/>
            <a:ext cx="3840480" cy="512064"/>
            <a:chOff x="0" y="0"/>
            <a:chExt cx="512064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2377440"/>
            <a:ext cx="3840480" cy="1280160"/>
            <a:chOff x="0" y="0"/>
            <a:chExt cx="512064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512064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33.8%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640" y="3657600"/>
            <a:ext cx="3840480" cy="822960"/>
            <a:chOff x="0" y="0"/>
            <a:chExt cx="512064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IRCA promedio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Riesgo Medio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846320" y="1828800"/>
            <a:ext cx="3840480" cy="2743200"/>
            <a:chOff x="0" y="0"/>
            <a:chExt cx="5120640" cy="3657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20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846320" y="1828800"/>
            <a:ext cx="3840480" cy="512064"/>
            <a:chOff x="0" y="0"/>
            <a:chExt cx="512064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846320" y="2377440"/>
            <a:ext cx="3840480" cy="1280160"/>
            <a:chOff x="0" y="0"/>
            <a:chExt cx="5120640" cy="1706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512064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4/4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846320" y="3657600"/>
            <a:ext cx="3840480" cy="822960"/>
            <a:chOff x="0" y="0"/>
            <a:chExt cx="512064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Parámetros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dentro norma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0" y="1828800"/>
            <a:ext cx="3840480" cy="2743200"/>
            <a:chOff x="0" y="0"/>
            <a:chExt cx="5120640" cy="3657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20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0" y="1828800"/>
            <a:ext cx="3840480" cy="512064"/>
            <a:chOff x="0" y="0"/>
            <a:chExt cx="512064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8C8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0" y="2377440"/>
            <a:ext cx="3840480" cy="1280160"/>
            <a:chOff x="0" y="0"/>
            <a:chExt cx="5120640" cy="1706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512064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W≈0.99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0" y="3657600"/>
            <a:ext cx="3840480" cy="822960"/>
            <a:chOff x="0" y="0"/>
            <a:chExt cx="512064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Shapiro-Wilk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Normalidad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441680" y="1828800"/>
            <a:ext cx="3840480" cy="2743200"/>
            <a:chOff x="0" y="0"/>
            <a:chExt cx="5120640" cy="3657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0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441680" y="1828800"/>
            <a:ext cx="3840480" cy="512064"/>
            <a:chOff x="0" y="0"/>
            <a:chExt cx="5120640" cy="6827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20640" cy="682752"/>
            </a:xfrm>
            <a:custGeom>
              <a:avLst/>
              <a:gdLst/>
              <a:ahLst/>
              <a:cxnLst/>
              <a:rect r="r" b="b" t="t" l="l"/>
              <a:pathLst>
                <a:path h="68275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441680" y="2377440"/>
            <a:ext cx="3840480" cy="1280160"/>
            <a:chOff x="0" y="0"/>
            <a:chExt cx="5120640" cy="1706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512064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p=0.879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441680" y="3657600"/>
            <a:ext cx="3840480" cy="822960"/>
            <a:chOff x="0" y="0"/>
            <a:chExt cx="512064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1206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ANOVA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 dif. sig.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48640" y="4846320"/>
            <a:ext cx="17190720" cy="731520"/>
            <a:chOff x="0" y="0"/>
            <a:chExt cx="2292096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920961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98" r="0" b="-40789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2292096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52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Intervalos de Confianza 95% del IRCA por Estrato</a:t>
              </a:r>
            </a:p>
          </p:txBody>
        </p:sp>
      </p:grpSp>
      <p:graphicFrame>
        <p:nvGraphicFramePr>
          <p:cNvPr name="Table 50" id="50"/>
          <p:cNvGraphicFramePr>
            <a:graphicFrameLocks noGrp="true"/>
          </p:cNvGraphicFramePr>
          <p:nvPr/>
        </p:nvGraphicFramePr>
        <p:xfrm>
          <a:off x="548640" y="5577840"/>
          <a:ext cx="17119600" cy="3200400"/>
        </p:xfrm>
        <a:graphic>
          <a:graphicData uri="http://schemas.openxmlformats.org/drawingml/2006/table">
            <a:tbl>
              <a:tblPr/>
              <a:tblGrid>
                <a:gridCol w="6352682"/>
                <a:gridCol w="1471412"/>
                <a:gridCol w="3279290"/>
                <a:gridCol w="3008108"/>
                <a:gridCol w="3008108"/>
              </a:tblGrid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Estrato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Media IRCA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IC inferior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IC superior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Estrato 1 (Bajo-bajo)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34.01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32.76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35.26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Estrato 2 (Bajo)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34.28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33.13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35.44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Estrato 3 (Medio-bajo)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33.33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32.34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34.32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Estrato 4 (Medio)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33.72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32.06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35.38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Estrato 5 (Medio-alto)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34.10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32.00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36.20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Estrato 6 (Alto)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33.94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31.48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36.41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51" id="51"/>
          <p:cNvGrpSpPr/>
          <p:nvPr/>
        </p:nvGrpSpPr>
        <p:grpSpPr>
          <a:xfrm rot="0">
            <a:off x="548640" y="8997696"/>
            <a:ext cx="17190720" cy="731520"/>
            <a:chOff x="0" y="0"/>
            <a:chExt cx="22920960" cy="9753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920961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98" r="0" b="-40789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2920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008C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💡 Los intervalos se solapan → calidad OBJETIVA homogénea en toda la ciudad (ANOVA p = 0.879)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08C8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645920"/>
            <a:chOff x="0" y="0"/>
            <a:chExt cx="2292096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510" r="0" b="-15351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292096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· CORRELACIÓN Y REGRESIÓN LINEAL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1828800"/>
            <a:ext cx="9509760" cy="7132320"/>
            <a:chOff x="0" y="0"/>
            <a:chExt cx="12679680" cy="9509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79680" cy="9509760"/>
            </a:xfrm>
            <a:custGeom>
              <a:avLst/>
              <a:gdLst/>
              <a:ahLst/>
              <a:cxnLst/>
              <a:rect r="r" b="b" t="t" l="l"/>
              <a:pathLst>
                <a:path h="95097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31520" y="1920240"/>
            <a:ext cx="9144000" cy="914400"/>
            <a:chOff x="0" y="0"/>
            <a:chExt cx="121920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92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19200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52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Estrato Socioeconómico vs. Confianza en el Agua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52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(Scatter plot + Regresión lineal)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7632" y="3328416"/>
            <a:ext cx="219456" cy="219456"/>
            <a:chOff x="0" y="0"/>
            <a:chExt cx="292608" cy="2926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5288">
                <a:alpha val="6392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46504" y="3429000"/>
            <a:ext cx="219456" cy="219456"/>
            <a:chOff x="0" y="0"/>
            <a:chExt cx="292608" cy="2926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5288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87068" y="3227832"/>
            <a:ext cx="219456" cy="219456"/>
            <a:chOff x="0" y="0"/>
            <a:chExt cx="292608" cy="2926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5288">
                <a:alpha val="6392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03120" y="3730752"/>
            <a:ext cx="219456" cy="219456"/>
            <a:chOff x="0" y="0"/>
            <a:chExt cx="292608" cy="2926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5288">
                <a:alpha val="6392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221992" y="3630168"/>
            <a:ext cx="219456" cy="219456"/>
            <a:chOff x="0" y="0"/>
            <a:chExt cx="292608" cy="2926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5288">
                <a:alpha val="6392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697480" y="4032504"/>
            <a:ext cx="219456" cy="219456"/>
            <a:chOff x="0" y="0"/>
            <a:chExt cx="292608" cy="2926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5288">
                <a:alpha val="6392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816352" y="3931920"/>
            <a:ext cx="219456" cy="219456"/>
            <a:chOff x="0" y="0"/>
            <a:chExt cx="292608" cy="2926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5288">
                <a:alpha val="6392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291840" y="4334256"/>
            <a:ext cx="219456" cy="219456"/>
            <a:chOff x="0" y="0"/>
            <a:chExt cx="292608" cy="2926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5288">
                <a:alpha val="63922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410712" y="4434840"/>
            <a:ext cx="219456" cy="219456"/>
            <a:chOff x="0" y="0"/>
            <a:chExt cx="292608" cy="2926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5288">
                <a:alpha val="63922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886200" y="4736592"/>
            <a:ext cx="219456" cy="219456"/>
            <a:chOff x="0" y="0"/>
            <a:chExt cx="292608" cy="2926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5288">
                <a:alpha val="63922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005072" y="4636008"/>
            <a:ext cx="219456" cy="219456"/>
            <a:chOff x="0" y="0"/>
            <a:chExt cx="292608" cy="2926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5288">
                <a:alpha val="63922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480560" y="5038344"/>
            <a:ext cx="219456" cy="219456"/>
            <a:chOff x="0" y="0"/>
            <a:chExt cx="292608" cy="2926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5288">
                <a:alpha val="63922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599432" y="4937760"/>
            <a:ext cx="219456" cy="219456"/>
            <a:chOff x="0" y="0"/>
            <a:chExt cx="292608" cy="2926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5288">
                <a:alpha val="63922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074920" y="5340096"/>
            <a:ext cx="219456" cy="219456"/>
            <a:chOff x="0" y="0"/>
            <a:chExt cx="292608" cy="2926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5288">
                <a:alpha val="63922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193792" y="5239512"/>
            <a:ext cx="219456" cy="219456"/>
            <a:chOff x="0" y="0"/>
            <a:chExt cx="292608" cy="2926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05288">
                <a:alpha val="63922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3657600" y="8686800"/>
            <a:ext cx="3657600" cy="457200"/>
            <a:chOff x="0" y="0"/>
            <a:chExt cx="4876800" cy="609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876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Estrato →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48640" y="4572000"/>
            <a:ext cx="640080" cy="457200"/>
            <a:chOff x="0" y="0"/>
            <a:chExt cx="853440" cy="609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53440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5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534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424160" y="1828800"/>
            <a:ext cx="7315200" cy="7132320"/>
            <a:chOff x="0" y="0"/>
            <a:chExt cx="9753600" cy="95097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753600" cy="9509760"/>
            </a:xfrm>
            <a:custGeom>
              <a:avLst/>
              <a:gdLst/>
              <a:ahLst/>
              <a:cxnLst/>
              <a:rect r="r" b="b" t="t" l="l"/>
              <a:pathLst>
                <a:path h="95097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424160" y="1828800"/>
            <a:ext cx="7315200" cy="822960"/>
            <a:chOff x="0" y="0"/>
            <a:chExt cx="975360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424160" y="1828800"/>
            <a:ext cx="7315200" cy="822960"/>
            <a:chOff x="0" y="0"/>
            <a:chExt cx="9753600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7536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Resultados Cuantitativos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607040" y="2779776"/>
            <a:ext cx="6949440" cy="329184"/>
            <a:chOff x="0" y="0"/>
            <a:chExt cx="9265920" cy="43891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Correlación de Pearson: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607040" y="3099816"/>
            <a:ext cx="6949440" cy="329184"/>
            <a:chOff x="0" y="0"/>
            <a:chExt cx="9265920" cy="43891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r = 0.891 ★★★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607040" y="3419856"/>
            <a:ext cx="6949440" cy="329184"/>
            <a:chOff x="0" y="0"/>
            <a:chExt cx="9265920" cy="43891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p &lt; 0.001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607040" y="4059936"/>
            <a:ext cx="6949440" cy="329184"/>
            <a:chOff x="0" y="0"/>
            <a:chExt cx="9265920" cy="43891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Modelo de Regresión: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607040" y="4379976"/>
            <a:ext cx="6949440" cy="329184"/>
            <a:chOff x="0" y="0"/>
            <a:chExt cx="9265920" cy="43891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Ŷ = 0.6214·E + 0.3067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607040" y="4700016"/>
            <a:ext cx="6949440" cy="329184"/>
            <a:chOff x="0" y="0"/>
            <a:chExt cx="9265920" cy="43891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08C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R² = 0.7937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607040" y="5020056"/>
            <a:ext cx="6949440" cy="329184"/>
            <a:chOff x="0" y="0"/>
            <a:chExt cx="9265920" cy="43891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p &lt; 0.001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607040" y="5660136"/>
            <a:ext cx="6949440" cy="329184"/>
            <a:chOff x="0" y="0"/>
            <a:chExt cx="9265920" cy="43891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Interpretación: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607040" y="5980176"/>
            <a:ext cx="6949440" cy="329184"/>
            <a:chOff x="0" y="0"/>
            <a:chExt cx="9265920" cy="43891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Por cada ↑ 1 estrato,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607040" y="6300216"/>
            <a:ext cx="6949440" cy="329184"/>
            <a:chOff x="0" y="0"/>
            <a:chExt cx="9265920" cy="43891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la confianza sube 0.62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607040" y="6940296"/>
            <a:ext cx="6949440" cy="329184"/>
            <a:chOff x="0" y="0"/>
            <a:chExt cx="9265920" cy="43891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Hallazgo clave: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607040" y="7260336"/>
            <a:ext cx="6949440" cy="329184"/>
            <a:chOff x="0" y="0"/>
            <a:chExt cx="9265920" cy="43891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El estrato PREDICE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607040" y="7580376"/>
            <a:ext cx="6949440" cy="329184"/>
            <a:chOff x="0" y="0"/>
            <a:chExt cx="9265920" cy="43891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confianza, NO los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0607040" y="7900416"/>
            <a:ext cx="6949440" cy="329184"/>
            <a:chOff x="0" y="0"/>
            <a:chExt cx="9265920" cy="43891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265920" cy="438912"/>
            </a:xfrm>
            <a:custGeom>
              <a:avLst/>
              <a:gdLst/>
              <a:ahLst/>
              <a:cxnLst/>
              <a:rect r="r" b="b" t="t" l="l"/>
              <a:pathLst>
                <a:path h="43891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92659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parámetros técnicos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0"/>
            <a:ext cx="17190720" cy="1645920"/>
            <a:chOff x="0" y="0"/>
            <a:chExt cx="2292096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20961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510" r="0" b="-15351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29209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58A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MACHINE LEARNING — Clasificador Naive Bayes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1828800"/>
            <a:ext cx="17190720" cy="1463040"/>
            <a:chOff x="0" y="0"/>
            <a:chExt cx="22920960" cy="195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920961" cy="1950720"/>
            </a:xfrm>
            <a:custGeom>
              <a:avLst/>
              <a:gdLst/>
              <a:ahLst/>
              <a:cxnLst/>
              <a:rect r="r" b="b" t="t" l="l"/>
              <a:pathLst>
                <a:path h="19507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1865376"/>
            <a:ext cx="6400800" cy="640080"/>
            <a:chOff x="0" y="0"/>
            <a:chExt cx="853440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3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5344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52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Fórmula del Teorema de Bayes: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523744"/>
            <a:ext cx="16459200" cy="640080"/>
            <a:chOff x="0" y="0"/>
            <a:chExt cx="2194560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19456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1A2E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P(confía | x) = P(x | confía) · P(confía) / P(x)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57200" y="3657600"/>
            <a:ext cx="3108960" cy="2194560"/>
            <a:chOff x="0" y="0"/>
            <a:chExt cx="4145280" cy="2926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45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57200" y="3749040"/>
            <a:ext cx="3108960" cy="914400"/>
            <a:chOff x="0" y="0"/>
            <a:chExt cx="414528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45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1452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Datos de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entrada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57200" y="4663440"/>
            <a:ext cx="3108960" cy="1097280"/>
            <a:chOff x="0" y="0"/>
            <a:chExt cx="414528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45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145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Turbidez, pH,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Cloro, Estrato...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47110" y="4735830"/>
            <a:ext cx="403860" cy="38100"/>
            <a:chOff x="0" y="0"/>
            <a:chExt cx="538480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400" y="0"/>
              <a:ext cx="487680" cy="50800"/>
            </a:xfrm>
            <a:custGeom>
              <a:avLst/>
              <a:gdLst/>
              <a:ahLst/>
              <a:cxnLst/>
              <a:rect r="r" b="b" t="t" l="l"/>
              <a:pathLst>
                <a:path h="5080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931920" y="3657600"/>
            <a:ext cx="3108960" cy="2194560"/>
            <a:chOff x="0" y="0"/>
            <a:chExt cx="4145280" cy="2926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45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931920" y="3749040"/>
            <a:ext cx="3108960" cy="914400"/>
            <a:chOff x="0" y="0"/>
            <a:chExt cx="414528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45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1452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División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75/25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931920" y="4663440"/>
            <a:ext cx="3108960" cy="1097280"/>
            <a:chOff x="0" y="0"/>
            <a:chExt cx="4145280" cy="1463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45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145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150 train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 test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021830" y="4735830"/>
            <a:ext cx="403860" cy="38100"/>
            <a:chOff x="0" y="0"/>
            <a:chExt cx="538480" cy="50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5400" y="0"/>
              <a:ext cx="487680" cy="50800"/>
            </a:xfrm>
            <a:custGeom>
              <a:avLst/>
              <a:gdLst/>
              <a:ahLst/>
              <a:cxnLst/>
              <a:rect r="r" b="b" t="t" l="l"/>
              <a:pathLst>
                <a:path h="5080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406640" y="3657600"/>
            <a:ext cx="3108960" cy="2194560"/>
            <a:chOff x="0" y="0"/>
            <a:chExt cx="4145280" cy="292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45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406640" y="3749040"/>
            <a:ext cx="3108960" cy="914400"/>
            <a:chOff x="0" y="0"/>
            <a:chExt cx="4145280" cy="121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45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1452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Entrenamiento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Naive Bayes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406640" y="4663440"/>
            <a:ext cx="3108960" cy="1097280"/>
            <a:chOff x="0" y="0"/>
            <a:chExt cx="4145280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45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145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GaussianNB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.fit(X, y)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496550" y="4735830"/>
            <a:ext cx="403860" cy="38100"/>
            <a:chOff x="0" y="0"/>
            <a:chExt cx="538480" cy="50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25400" y="0"/>
              <a:ext cx="487680" cy="50800"/>
            </a:xfrm>
            <a:custGeom>
              <a:avLst/>
              <a:gdLst/>
              <a:ahLst/>
              <a:cxnLst/>
              <a:rect r="r" b="b" t="t" l="l"/>
              <a:pathLst>
                <a:path h="5080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881360" y="3657600"/>
            <a:ext cx="3108960" cy="2194560"/>
            <a:chOff x="0" y="0"/>
            <a:chExt cx="4145280" cy="2926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145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881360" y="3749040"/>
            <a:ext cx="3108960" cy="914400"/>
            <a:chOff x="0" y="0"/>
            <a:chExt cx="414528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45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1452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Predicción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881360" y="4663440"/>
            <a:ext cx="3108960" cy="1097280"/>
            <a:chOff x="0" y="0"/>
            <a:chExt cx="4145280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45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145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.predict(X_test)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Confía/No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971270" y="4735830"/>
            <a:ext cx="403860" cy="38100"/>
            <a:chOff x="0" y="0"/>
            <a:chExt cx="538480" cy="50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25400" y="0"/>
              <a:ext cx="487680" cy="50800"/>
            </a:xfrm>
            <a:custGeom>
              <a:avLst/>
              <a:gdLst/>
              <a:ahLst/>
              <a:cxnLst/>
              <a:rect r="r" b="b" t="t" l="l"/>
              <a:pathLst>
                <a:path h="5080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4356080" y="3657600"/>
            <a:ext cx="3108960" cy="2194560"/>
            <a:chOff x="0" y="0"/>
            <a:chExt cx="4145280" cy="29260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145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05288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356080" y="3749040"/>
            <a:ext cx="3108960" cy="914400"/>
            <a:chOff x="0" y="0"/>
            <a:chExt cx="4145280" cy="1219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45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1452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Evaluación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356080" y="4663440"/>
            <a:ext cx="3108960" cy="1097280"/>
            <a:chOff x="0" y="0"/>
            <a:chExt cx="4145280" cy="14630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45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41452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F1-score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14400" y="6400800"/>
            <a:ext cx="2834640" cy="2743200"/>
            <a:chOff x="0" y="0"/>
            <a:chExt cx="3779520" cy="36576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7795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779520">
                  <a:moveTo>
                    <a:pt x="0" y="1828800"/>
                  </a:moveTo>
                  <a:cubicBezTo>
                    <a:pt x="0" y="818769"/>
                    <a:pt x="846127" y="0"/>
                    <a:pt x="1889760" y="0"/>
                  </a:cubicBezTo>
                  <a:cubicBezTo>
                    <a:pt x="2933393" y="0"/>
                    <a:pt x="3779520" y="818769"/>
                    <a:pt x="3779520" y="1828800"/>
                  </a:cubicBezTo>
                  <a:cubicBezTo>
                    <a:pt x="3779520" y="2838831"/>
                    <a:pt x="2933393" y="3657600"/>
                    <a:pt x="1889760" y="3657600"/>
                  </a:cubicBezTo>
                  <a:cubicBezTo>
                    <a:pt x="846127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22C55E">
                <a:alpha val="72157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85800" y="6433185"/>
            <a:ext cx="3291840" cy="1554480"/>
            <a:chOff x="0" y="0"/>
            <a:chExt cx="4389120" cy="2072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389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87" t="0" r="-10587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04775"/>
              <a:ext cx="4389120" cy="2177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96%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59130" y="7861935"/>
            <a:ext cx="3291840" cy="1097280"/>
            <a:chOff x="0" y="0"/>
            <a:chExt cx="4389120" cy="14630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389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3891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Exactitud</a:t>
              </a:r>
            </a:p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general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029200" y="6400800"/>
            <a:ext cx="3008948" cy="2743200"/>
            <a:chOff x="0" y="0"/>
            <a:chExt cx="4011930" cy="36576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01193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011930">
                  <a:moveTo>
                    <a:pt x="0" y="1828800"/>
                  </a:moveTo>
                  <a:cubicBezTo>
                    <a:pt x="0" y="818769"/>
                    <a:pt x="898157" y="0"/>
                    <a:pt x="2005965" y="0"/>
                  </a:cubicBezTo>
                  <a:cubicBezTo>
                    <a:pt x="3113773" y="0"/>
                    <a:pt x="4011930" y="818769"/>
                    <a:pt x="4011930" y="1828800"/>
                  </a:cubicBezTo>
                  <a:cubicBezTo>
                    <a:pt x="4011930" y="2838831"/>
                    <a:pt x="3113773" y="3657600"/>
                    <a:pt x="2005965" y="3657600"/>
                  </a:cubicBezTo>
                  <a:cubicBezTo>
                    <a:pt x="898157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005288">
                <a:alpha val="72157"/>
              </a:srgbClr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4914900" y="6433185"/>
            <a:ext cx="3291840" cy="1554480"/>
            <a:chOff x="0" y="0"/>
            <a:chExt cx="4389120" cy="2072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389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87" t="0" r="-10587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04775"/>
              <a:ext cx="4389120" cy="2177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0.95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914900" y="7740267"/>
            <a:ext cx="3291840" cy="1097280"/>
            <a:chOff x="0" y="0"/>
            <a:chExt cx="4389120" cy="14630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389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43891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Precisión</a:t>
              </a:r>
            </a:p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confía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144000" y="6400800"/>
            <a:ext cx="2983230" cy="2743200"/>
            <a:chOff x="0" y="0"/>
            <a:chExt cx="3977640" cy="36576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9776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977640">
                  <a:moveTo>
                    <a:pt x="0" y="1828800"/>
                  </a:moveTo>
                  <a:cubicBezTo>
                    <a:pt x="0" y="818769"/>
                    <a:pt x="890480" y="0"/>
                    <a:pt x="1988820" y="0"/>
                  </a:cubicBezTo>
                  <a:cubicBezTo>
                    <a:pt x="3087160" y="0"/>
                    <a:pt x="3977640" y="818769"/>
                    <a:pt x="3977640" y="1828800"/>
                  </a:cubicBezTo>
                  <a:cubicBezTo>
                    <a:pt x="3977640" y="2838831"/>
                    <a:pt x="3087160" y="3657600"/>
                    <a:pt x="1988820" y="3657600"/>
                  </a:cubicBezTo>
                  <a:cubicBezTo>
                    <a:pt x="890480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008C82">
                <a:alpha val="72157"/>
              </a:srgbClr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8869680" y="6400800"/>
            <a:ext cx="3291840" cy="1554480"/>
            <a:chOff x="0" y="0"/>
            <a:chExt cx="4389120" cy="20726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389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87" t="0" r="-10587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04775"/>
              <a:ext cx="4389120" cy="2177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1.00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961120" y="7772400"/>
            <a:ext cx="3291840" cy="1097280"/>
            <a:chOff x="0" y="0"/>
            <a:chExt cx="4389120" cy="14630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389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43891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Recall</a:t>
              </a:r>
            </a:p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confía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258800" y="6400800"/>
            <a:ext cx="2880360" cy="2743200"/>
            <a:chOff x="0" y="0"/>
            <a:chExt cx="3840480" cy="36576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8404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840480">
                  <a:moveTo>
                    <a:pt x="0" y="1828800"/>
                  </a:moveTo>
                  <a:cubicBezTo>
                    <a:pt x="0" y="818769"/>
                    <a:pt x="859774" y="0"/>
                    <a:pt x="1920240" y="0"/>
                  </a:cubicBezTo>
                  <a:cubicBezTo>
                    <a:pt x="2980706" y="0"/>
                    <a:pt x="3840480" y="818769"/>
                    <a:pt x="3840480" y="1828800"/>
                  </a:cubicBezTo>
                  <a:cubicBezTo>
                    <a:pt x="3840480" y="2838831"/>
                    <a:pt x="2980706" y="3657600"/>
                    <a:pt x="1920240" y="3657600"/>
                  </a:cubicBezTo>
                  <a:cubicBezTo>
                    <a:pt x="859774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F59E0B">
                <a:alpha val="72157"/>
              </a:srgbClr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529363" y="6615813"/>
            <a:ext cx="2381197" cy="1124454"/>
            <a:chOff x="0" y="0"/>
            <a:chExt cx="4389120" cy="20726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389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87" t="0" r="-10587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04775"/>
              <a:ext cx="4389120" cy="2177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0.97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988290" y="7740267"/>
            <a:ext cx="3291840" cy="1097280"/>
            <a:chOff x="0" y="0"/>
            <a:chExt cx="4389120" cy="14630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389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3891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F1-score</a:t>
              </a:r>
            </a:p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confía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48640" y="9418320"/>
            <a:ext cx="17190720" cy="731520"/>
            <a:chOff x="0" y="0"/>
            <a:chExt cx="22920960" cy="9753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2920961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98" r="0" b="-40789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229209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0052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🎯 Con solo conocer el estrato y los parámetros del agua, el modelo predice correctamente si un ciudadano CONFÍA en el agua el 96% de las veces.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2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35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0"/>
            <a:ext cx="17190720" cy="1645920"/>
            <a:chOff x="0" y="0"/>
            <a:chExt cx="2292096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20961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510" r="0" b="-15351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292096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CONCLUSIONES Y RECOMENDACIONES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" y="1920240"/>
            <a:ext cx="17190720" cy="1316736"/>
            <a:chOff x="0" y="0"/>
            <a:chExt cx="22920960" cy="1755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20961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00100" y="2069664"/>
            <a:ext cx="13945555" cy="1017889"/>
            <a:chOff x="0" y="0"/>
            <a:chExt cx="24053203" cy="17556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053203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053203">
                  <a:moveTo>
                    <a:pt x="0" y="0"/>
                  </a:moveTo>
                  <a:lnTo>
                    <a:pt x="24053203" y="0"/>
                  </a:lnTo>
                  <a:lnTo>
                    <a:pt x="24053203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031" r="13831" b="-18003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4053203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agua de Bogotá CUMPLE la Res. 2115/2007 en todos los parámetros monitoreados (EAAB 2022-2024).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640" y="3419856"/>
            <a:ext cx="17190720" cy="1316736"/>
            <a:chOff x="0" y="0"/>
            <a:chExt cx="22920960" cy="17556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920961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00100" y="3419856"/>
            <a:ext cx="15544800" cy="1316736"/>
            <a:chOff x="0" y="0"/>
            <a:chExt cx="20726400" cy="17556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7264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031" r="0" b="-18003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072640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IRCA promedio = 33.8% (riesgo medio técnico) pero HOMOGÉNEO entre estratos (ANOVA p=0.879).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48640" y="4919472"/>
            <a:ext cx="17190720" cy="1316736"/>
            <a:chOff x="0" y="0"/>
            <a:chExt cx="22920960" cy="17556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920961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00100" y="4826127"/>
            <a:ext cx="15544800" cy="1316736"/>
            <a:chOff x="0" y="0"/>
            <a:chExt cx="20726400" cy="17556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7264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031" r="0" b="-18003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072640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Existe INEQUIDAD HÍDRICA PERCEPTUAL: r(estrato, confianza) = 0.891 (p&lt;0.001).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48640" y="6419088"/>
            <a:ext cx="17190720" cy="1316736"/>
            <a:chOff x="0" y="0"/>
            <a:chExt cx="22920960" cy="17556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920961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00100" y="6512433"/>
            <a:ext cx="15544800" cy="1316736"/>
            <a:chOff x="0" y="0"/>
            <a:chExt cx="20726400" cy="17556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7264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031" r="0" b="-18003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072640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estrato explica el 79.4% de la varianza en confianza (R²=0.794), no los parámetros técnicos.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8640" y="7918704"/>
            <a:ext cx="17190720" cy="1316736"/>
            <a:chOff x="0" y="0"/>
            <a:chExt cx="22920960" cy="17556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920961" cy="1755648"/>
            </a:xfrm>
            <a:custGeom>
              <a:avLst/>
              <a:gdLst/>
              <a:ahLst/>
              <a:cxnLst/>
              <a:rect r="r" b="b" t="t" l="l"/>
              <a:pathLst>
                <a:path h="17556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00100" y="7829169"/>
            <a:ext cx="15544800" cy="1316736"/>
            <a:chOff x="0" y="0"/>
            <a:chExt cx="20726400" cy="17556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7264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031" r="0" b="-18003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072640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Naive Bayes clasifica correctamente el nivel de confianza con 96% de exactitud.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40030" y="9330690"/>
            <a:ext cx="17499330" cy="651571"/>
            <a:chOff x="0" y="0"/>
            <a:chExt cx="2292096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920961" cy="853440"/>
            </a:xfrm>
            <a:custGeom>
              <a:avLst/>
              <a:gdLst/>
              <a:ahLst/>
              <a:cxnLst/>
              <a:rect r="r" b="b" t="t" l="l"/>
              <a:pathLst>
                <a:path h="8534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312" r="0" b="-47331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2920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Recomendación: Campañas de comunicación diferenciadas por estrato + monitoreo participativo + mejora infraestructura intradomiciliaria en zonas populares.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2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55480" y="5746932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35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0"/>
            <a:ext cx="17190720" cy="1645920"/>
            <a:chOff x="0" y="0"/>
            <a:chExt cx="2292096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20961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510" r="0" b="-15351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292096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LINK DEL REPOSITORIO DE GITHUB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77412" y="4036464"/>
            <a:ext cx="11983971" cy="1976994"/>
            <a:chOff x="0" y="0"/>
            <a:chExt cx="17832896" cy="29418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832896" cy="2941891"/>
            </a:xfrm>
            <a:custGeom>
              <a:avLst/>
              <a:gdLst/>
              <a:ahLst/>
              <a:cxnLst/>
              <a:rect r="r" b="b" t="t" l="l"/>
              <a:pathLst>
                <a:path h="2941891" w="17832896">
                  <a:moveTo>
                    <a:pt x="0" y="0"/>
                  </a:moveTo>
                  <a:lnTo>
                    <a:pt x="17832896" y="0"/>
                  </a:lnTo>
                  <a:lnTo>
                    <a:pt x="17832896" y="2941891"/>
                  </a:lnTo>
                  <a:lnTo>
                    <a:pt x="0" y="2941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438" r="-16225" b="-6711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7832896" cy="3027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https://github.com/BBDavidSS/Confianza-en-la-seguridad-del-agua-en-Bogot-.git</a:t>
              </a:r>
            </a:p>
            <a:p>
              <a:pPr algn="l">
                <a:lnSpc>
                  <a:spcPts val="46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68618" y="2628842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6" y="0"/>
                </a:lnTo>
                <a:lnTo>
                  <a:pt x="5029316" y="5029316"/>
                </a:lnTo>
                <a:lnTo>
                  <a:pt x="0" y="50293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750226" y="7612380"/>
            <a:ext cx="5610508" cy="1645920"/>
            <a:chOff x="0" y="0"/>
            <a:chExt cx="7480678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80678" cy="2194560"/>
            </a:xfrm>
            <a:custGeom>
              <a:avLst/>
              <a:gdLst/>
              <a:ahLst/>
              <a:cxnLst/>
              <a:rect r="r" b="b" t="t" l="l"/>
              <a:pathLst>
                <a:path h="2194560" w="7480678">
                  <a:moveTo>
                    <a:pt x="0" y="0"/>
                  </a:moveTo>
                  <a:lnTo>
                    <a:pt x="7480678" y="0"/>
                  </a:lnTo>
                  <a:lnTo>
                    <a:pt x="7480678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510" r="-206402" b="-15351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7480678" cy="2280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19"/>
                </a:lnSpc>
              </a:pPr>
              <a:r>
                <a:rPr lang="en-US" sz="40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MUCHAS GRACIAS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DAHJamml_uQ</dc:identifier>
  <dcterms:modified xsi:type="dcterms:W3CDTF">2011-08-01T06:04:30Z</dcterms:modified>
  <cp:revision>1</cp:revision>
  <dc:title>AguaenBogota.pptx</dc:title>
</cp:coreProperties>
</file>